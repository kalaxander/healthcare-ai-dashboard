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08" r:id="rId2"/>
    <p:sldMasterId id="2147483784" r:id="rId3"/>
  </p:sldMasterIdLst>
  <p:notesMasterIdLst>
    <p:notesMasterId r:id="rId21"/>
  </p:notesMasterIdLst>
  <p:sldIdLst>
    <p:sldId id="379" r:id="rId4"/>
    <p:sldId id="394" r:id="rId5"/>
    <p:sldId id="393" r:id="rId6"/>
    <p:sldId id="351" r:id="rId7"/>
    <p:sldId id="390" r:id="rId8"/>
    <p:sldId id="400" r:id="rId9"/>
    <p:sldId id="397" r:id="rId10"/>
    <p:sldId id="389" r:id="rId11"/>
    <p:sldId id="388" r:id="rId12"/>
    <p:sldId id="387" r:id="rId13"/>
    <p:sldId id="386" r:id="rId14"/>
    <p:sldId id="410" r:id="rId15"/>
    <p:sldId id="411" r:id="rId16"/>
    <p:sldId id="413" r:id="rId17"/>
    <p:sldId id="416" r:id="rId18"/>
    <p:sldId id="384" r:id="rId19"/>
    <p:sldId id="339" r:id="rId20"/>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C8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8D5615-6885-409D-B36A-31A5FBB5A0BF}" v="9" dt="2025-07-23T04:02:40.7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660"/>
  </p:normalViewPr>
  <p:slideViewPr>
    <p:cSldViewPr>
      <p:cViewPr varScale="1">
        <p:scale>
          <a:sx n="72" d="100"/>
          <a:sy n="72" d="100"/>
        </p:scale>
        <p:origin x="1363"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DC9B00DF-D0CD-42BD-A9A6-A9927F9DA07E}" type="datetimeFigureOut">
              <a:rPr lang="en-US" smtClean="0"/>
              <a:pPr/>
              <a:t>7/12/2026</a:t>
            </a:fld>
            <a:endParaRPr lang="en-US"/>
          </a:p>
        </p:txBody>
      </p:sp>
      <p:sp>
        <p:nvSpPr>
          <p:cNvPr id="4" name="Slide Image Placeholder 3"/>
          <p:cNvSpPr>
            <a:spLocks noGrp="1" noRot="1" noChangeAspect="1"/>
          </p:cNvSpPr>
          <p:nvPr>
            <p:ph type="sldImg" idx="2"/>
          </p:nvPr>
        </p:nvSpPr>
        <p:spPr>
          <a:xfrm>
            <a:off x="1384300" y="1163638"/>
            <a:ext cx="4186238" cy="3141662"/>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203475E3-FDC5-4C2E-93FA-614291BC4764}" type="slidenum">
              <a:rPr lang="en-US" smtClean="0"/>
              <a:pPr/>
              <a:t>‹#›</a:t>
            </a:fld>
            <a:endParaRPr lang="en-US"/>
          </a:p>
        </p:txBody>
      </p:sp>
    </p:spTree>
    <p:extLst>
      <p:ext uri="{BB962C8B-B14F-4D97-AF65-F5344CB8AC3E}">
        <p14:creationId xmlns:p14="http://schemas.microsoft.com/office/powerpoint/2010/main" val="455153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for respective colleges/institutions while we retain the DMIHER logo on top always. </a:t>
            </a:r>
          </a:p>
        </p:txBody>
      </p:sp>
      <p:sp>
        <p:nvSpPr>
          <p:cNvPr id="4" name="Slide Number Placeholder 3"/>
          <p:cNvSpPr>
            <a:spLocks noGrp="1"/>
          </p:cNvSpPr>
          <p:nvPr>
            <p:ph type="sldNum" sz="quarter" idx="5"/>
          </p:nvPr>
        </p:nvSpPr>
        <p:spPr/>
        <p:txBody>
          <a:bodyPr/>
          <a:lstStyle/>
          <a:p>
            <a:fld id="{DCE1FC74-779B-D247-B77E-EE4A4441F059}"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550856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45E96-96D3-BCAE-5910-A5BB6A9AA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94E8C-3C10-7E2C-A988-7105B24A6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E97A3-4F1B-D8DA-B706-00C3546004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41EBEA-905D-A586-A029-AC03BA6EDBFB}"/>
              </a:ext>
            </a:extLst>
          </p:cNvPr>
          <p:cNvSpPr>
            <a:spLocks noGrp="1"/>
          </p:cNvSpPr>
          <p:nvPr>
            <p:ph type="sldNum" sz="quarter" idx="5"/>
          </p:nvPr>
        </p:nvSpPr>
        <p:spPr/>
        <p:txBody>
          <a:bodyPr/>
          <a:lstStyle/>
          <a:p>
            <a:fld id="{203475E3-FDC5-4C2E-93FA-614291BC4764}" type="slidenum">
              <a:rPr lang="en-US" smtClean="0"/>
              <a:pPr/>
              <a:t>15</a:t>
            </a:fld>
            <a:endParaRPr lang="en-US"/>
          </a:p>
        </p:txBody>
      </p:sp>
    </p:spTree>
    <p:extLst>
      <p:ext uri="{BB962C8B-B14F-4D97-AF65-F5344CB8AC3E}">
        <p14:creationId xmlns:p14="http://schemas.microsoft.com/office/powerpoint/2010/main" val="3819684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28/08/2020</a:t>
            </a:r>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28/08/2020</a:t>
            </a:r>
          </a:p>
        </p:txBody>
      </p:sp>
      <p:sp>
        <p:nvSpPr>
          <p:cNvPr id="8" name="Footer Placeholder 7"/>
          <p:cNvSpPr>
            <a:spLocks noGrp="1"/>
          </p:cNvSpPr>
          <p:nvPr>
            <p:ph type="ftr" sz="quarter" idx="11"/>
          </p:nvPr>
        </p:nvSpPr>
        <p:spPr/>
        <p:txBody>
          <a:bodyPr/>
          <a:lstStyle/>
          <a:p>
            <a:r>
              <a:rPr lang="en-US"/>
              <a:t>   Datta Meghe Institute of Medical Sciences  Deemed to be University,  Sawangi (Meghe)Wardha</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28/08/2020</a:t>
            </a:r>
          </a:p>
        </p:txBody>
      </p:sp>
      <p:sp>
        <p:nvSpPr>
          <p:cNvPr id="4" name="Footer Placeholder 3"/>
          <p:cNvSpPr>
            <a:spLocks noGrp="1"/>
          </p:cNvSpPr>
          <p:nvPr>
            <p:ph type="ftr" sz="quarter" idx="11"/>
          </p:nvPr>
        </p:nvSpPr>
        <p:spPr/>
        <p:txBody>
          <a:bodyPr/>
          <a:lstStyle/>
          <a:p>
            <a:r>
              <a:rPr lang="en-US"/>
              <a:t>   Datta Meghe Institute of Medical Sciences  Deemed to be University,  Sawangi (Meghe)Wardha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28/08/2020</a:t>
            </a:r>
          </a:p>
        </p:txBody>
      </p:sp>
      <p:sp>
        <p:nvSpPr>
          <p:cNvPr id="3" name="Footer Placeholder 2"/>
          <p:cNvSpPr>
            <a:spLocks noGrp="1"/>
          </p:cNvSpPr>
          <p:nvPr>
            <p:ph type="ftr" sz="quarter" idx="11"/>
          </p:nvPr>
        </p:nvSpPr>
        <p:spPr/>
        <p:txBody>
          <a:bodyPr/>
          <a:lstStyle/>
          <a:p>
            <a:r>
              <a:rPr lang="en-US"/>
              <a:t>   Datta Meghe Institute of Medical Sciences  Deemed to be University,  Sawangi (Meghe)Wardha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28/08/2020</a:t>
            </a:r>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28/08/2020</a:t>
            </a:r>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28/08/2020</a:t>
            </a:r>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13"/>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26915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36995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88"/>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3963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13166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6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6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solidFill>
                  <a:prstClr val="black">
                    <a:tint val="75000"/>
                  </a:prstClr>
                </a:solidFill>
              </a:rPr>
              <a:t>28/08/2020</a:t>
            </a:r>
          </a:p>
        </p:txBody>
      </p:sp>
      <p:sp>
        <p:nvSpPr>
          <p:cNvPr id="8" name="Footer Placeholder 7"/>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42665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tint val="75000"/>
                  </a:prstClr>
                </a:solidFill>
              </a:rPr>
              <a:t>28/08/2020</a:t>
            </a:r>
          </a:p>
        </p:txBody>
      </p:sp>
      <p:sp>
        <p:nvSpPr>
          <p:cNvPr id="4" name="Footer Placeholder 3"/>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68051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28/08/2020</a:t>
            </a:r>
          </a:p>
        </p:txBody>
      </p:sp>
      <p:sp>
        <p:nvSpPr>
          <p:cNvPr id="3" name="Footer Placeholder 2"/>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184628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13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3484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28/08/2020</a:t>
            </a: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7936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597330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726"/>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726"/>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28/08/2020</a:t>
            </a: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602128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B824FD94-E00E-78CF-2E3B-5DF503A5C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7991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0" y="2130431"/>
            <a:ext cx="7772400" cy="1470025"/>
          </a:xfrm>
        </p:spPr>
        <p:txBody>
          <a:bodyPr/>
          <a:lstStyle>
            <a:lvl1pPr>
              <a:lnSpc>
                <a:spcPct val="150000"/>
              </a:lnSpc>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lnSpc>
                <a:spcPct val="150000"/>
              </a:lnSpc>
              <a:buNone/>
              <a:defRPr>
                <a:solidFill>
                  <a:schemeClr val="tx1">
                    <a:tint val="75000"/>
                  </a:schemeClr>
                </a:solidFill>
              </a:defRPr>
            </a:lvl1pPr>
            <a:lvl2pPr marL="192881" indent="0" algn="ctr">
              <a:buNone/>
              <a:defRPr>
                <a:solidFill>
                  <a:schemeClr val="tx1">
                    <a:tint val="75000"/>
                  </a:schemeClr>
                </a:solidFill>
              </a:defRPr>
            </a:lvl2pPr>
            <a:lvl3pPr marL="385763" indent="0" algn="ctr">
              <a:buNone/>
              <a:defRPr>
                <a:solidFill>
                  <a:schemeClr val="tx1">
                    <a:tint val="75000"/>
                  </a:schemeClr>
                </a:solidFill>
              </a:defRPr>
            </a:lvl3pPr>
            <a:lvl4pPr marL="578644" indent="0" algn="ctr">
              <a:buNone/>
              <a:defRPr>
                <a:solidFill>
                  <a:schemeClr val="tx1">
                    <a:tint val="75000"/>
                  </a:schemeClr>
                </a:solidFill>
              </a:defRPr>
            </a:lvl4pPr>
            <a:lvl5pPr marL="771525" indent="0" algn="ctr">
              <a:buNone/>
              <a:defRPr>
                <a:solidFill>
                  <a:schemeClr val="tx1">
                    <a:tint val="75000"/>
                  </a:schemeClr>
                </a:solidFill>
              </a:defRPr>
            </a:lvl5pPr>
            <a:lvl6pPr marL="964406" indent="0" algn="ctr">
              <a:buNone/>
              <a:defRPr>
                <a:solidFill>
                  <a:schemeClr val="tx1">
                    <a:tint val="75000"/>
                  </a:schemeClr>
                </a:solidFill>
              </a:defRPr>
            </a:lvl6pPr>
            <a:lvl7pPr marL="1157288" indent="0" algn="ctr">
              <a:buNone/>
              <a:defRPr>
                <a:solidFill>
                  <a:schemeClr val="tx1">
                    <a:tint val="75000"/>
                  </a:schemeClr>
                </a:solidFill>
              </a:defRPr>
            </a:lvl7pPr>
            <a:lvl8pPr marL="1350169" indent="0" algn="ctr">
              <a:buNone/>
              <a:defRPr>
                <a:solidFill>
                  <a:schemeClr val="tx1">
                    <a:tint val="75000"/>
                  </a:schemeClr>
                </a:solidFill>
              </a:defRPr>
            </a:lvl8pPr>
            <a:lvl9pPr marL="1543050" indent="0" algn="ctr">
              <a:buNone/>
              <a:defRPr>
                <a:solidFill>
                  <a:schemeClr val="tx1">
                    <a:tint val="75000"/>
                  </a:schemeClr>
                </a:solidFill>
              </a:defRPr>
            </a:lvl9pPr>
          </a:lstStyle>
          <a:p>
            <a:r>
              <a:rPr lang="en-US" dirty="0"/>
              <a:t>Click to edit Master subtitle style</a:t>
            </a:r>
          </a:p>
        </p:txBody>
      </p:sp>
      <p:sp>
        <p:nvSpPr>
          <p:cNvPr id="5" name="Date Placeholder 3">
            <a:extLst>
              <a:ext uri="{FF2B5EF4-FFF2-40B4-BE49-F238E27FC236}">
                <a16:creationId xmlns:a16="http://schemas.microsoft.com/office/drawing/2014/main" id="{F989EA32-B402-6867-8EDE-6FFDE5CC3914}"/>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D1C3F6F3-184D-17DF-EF30-606E5F98B07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7CDB1AED-5A1F-FCA6-130F-DA60C52D9271}"/>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509375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F8F50773-16F1-9758-5711-EC68887EF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09418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lnSpc>
                <a:spcPct val="150000"/>
              </a:lnSpc>
              <a:defRPr/>
            </a:lvl1pPr>
          </a:lstStyle>
          <a:p>
            <a:r>
              <a:rPr lang="en-US" dirty="0"/>
              <a:t>Click to edit Master title style</a:t>
            </a:r>
          </a:p>
        </p:txBody>
      </p:sp>
      <p:sp>
        <p:nvSpPr>
          <p:cNvPr id="3" name="Content Placeholder 2"/>
          <p:cNvSpPr>
            <a:spLocks noGrp="1"/>
          </p:cNvSpPr>
          <p:nvPr>
            <p:ph idx="1"/>
          </p:nvPr>
        </p:nvSpPr>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007C3E71-7973-716A-A06D-D58839FCBFC1}"/>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52B0AA02-342C-1FA0-709F-96BB8E58555B}"/>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4143D73A-1B23-0288-3426-6502CF1E2E26}"/>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70848"/>
      </p:ext>
    </p:extLst>
  </p:cSld>
  <p:clrMapOvr>
    <a:masterClrMapping/>
  </p:clrMapOvr>
  <p:transition>
    <p:wheel spokes="8"/>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lnSpc>
                <a:spcPct val="150000"/>
              </a:lnSpc>
              <a:defRPr sz="1688"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844">
                <a:solidFill>
                  <a:schemeClr val="tx1">
                    <a:tint val="75000"/>
                  </a:schemeClr>
                </a:solidFill>
              </a:defRPr>
            </a:lvl1pPr>
            <a:lvl2pPr marL="192881" indent="0">
              <a:buNone/>
              <a:defRPr sz="760">
                <a:solidFill>
                  <a:schemeClr val="tx1">
                    <a:tint val="75000"/>
                  </a:schemeClr>
                </a:solidFill>
              </a:defRPr>
            </a:lvl2pPr>
            <a:lvl3pPr marL="385763" indent="0">
              <a:buNone/>
              <a:defRPr sz="675">
                <a:solidFill>
                  <a:schemeClr val="tx1">
                    <a:tint val="75000"/>
                  </a:schemeClr>
                </a:solidFill>
              </a:defRPr>
            </a:lvl3pPr>
            <a:lvl4pPr marL="578644" indent="0">
              <a:buNone/>
              <a:defRPr sz="591">
                <a:solidFill>
                  <a:schemeClr val="tx1">
                    <a:tint val="75000"/>
                  </a:schemeClr>
                </a:solidFill>
              </a:defRPr>
            </a:lvl4pPr>
            <a:lvl5pPr marL="771525" indent="0">
              <a:buNone/>
              <a:defRPr sz="591">
                <a:solidFill>
                  <a:schemeClr val="tx1">
                    <a:tint val="75000"/>
                  </a:schemeClr>
                </a:solidFill>
              </a:defRPr>
            </a:lvl5pPr>
            <a:lvl6pPr marL="964406" indent="0">
              <a:buNone/>
              <a:defRPr sz="591">
                <a:solidFill>
                  <a:schemeClr val="tx1">
                    <a:tint val="75000"/>
                  </a:schemeClr>
                </a:solidFill>
              </a:defRPr>
            </a:lvl6pPr>
            <a:lvl7pPr marL="1157288" indent="0">
              <a:buNone/>
              <a:defRPr sz="591">
                <a:solidFill>
                  <a:schemeClr val="tx1">
                    <a:tint val="75000"/>
                  </a:schemeClr>
                </a:solidFill>
              </a:defRPr>
            </a:lvl7pPr>
            <a:lvl8pPr marL="1350169" indent="0">
              <a:buNone/>
              <a:defRPr sz="591">
                <a:solidFill>
                  <a:schemeClr val="tx1">
                    <a:tint val="75000"/>
                  </a:schemeClr>
                </a:solidFill>
              </a:defRPr>
            </a:lvl8pPr>
            <a:lvl9pPr marL="1543050" indent="0">
              <a:buNone/>
              <a:defRPr sz="591">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3C710B-7EB5-3115-0FA9-2F8F617BA6F6}"/>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A51EB6F-40FF-9695-C704-212CF48E3189}"/>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8A1106C-C03B-8387-5908-8BE9B5D0151B}"/>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05274071"/>
      </p:ext>
    </p:extLst>
  </p:cSld>
  <p:clrMapOvr>
    <a:masterClrMapping/>
  </p:clrMapOvr>
  <p:transition>
    <p:wheel spokes="8"/>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150000"/>
              </a:lnSpc>
              <a:defRPr/>
            </a:lvl1pPr>
          </a:lstStyle>
          <a:p>
            <a:r>
              <a:rPr lang="en-US" dirty="0"/>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lnSpc>
                <a:spcPct val="150000"/>
              </a:lnSpc>
              <a:defRPr sz="1181"/>
            </a:lvl1pPr>
            <a:lvl2pPr>
              <a:lnSpc>
                <a:spcPct val="150000"/>
              </a:lnSpc>
              <a:defRPr sz="1013"/>
            </a:lvl2pPr>
            <a:lvl3pPr>
              <a:lnSpc>
                <a:spcPct val="150000"/>
              </a:lnSpc>
              <a:defRPr sz="844"/>
            </a:lvl3pPr>
            <a:lvl4pPr>
              <a:lnSpc>
                <a:spcPct val="150000"/>
              </a:lnSpc>
              <a:defRPr sz="760"/>
            </a:lvl4pPr>
            <a:lvl5pPr>
              <a:lnSpc>
                <a:spcPct val="150000"/>
              </a:lnSpc>
              <a:defRPr sz="760"/>
            </a:lvl5pPr>
            <a:lvl6pPr>
              <a:defRPr sz="760"/>
            </a:lvl6pPr>
            <a:lvl7pPr>
              <a:defRPr sz="760"/>
            </a:lvl7pPr>
            <a:lvl8pPr>
              <a:defRPr sz="760"/>
            </a:lvl8pPr>
            <a:lvl9pPr>
              <a:defRPr sz="76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6"/>
            <a:ext cx="4038600" cy="4525963"/>
          </a:xfrm>
        </p:spPr>
        <p:txBody>
          <a:bodyPr/>
          <a:lstStyle>
            <a:lvl1pPr>
              <a:lnSpc>
                <a:spcPct val="150000"/>
              </a:lnSpc>
              <a:defRPr sz="1181"/>
            </a:lvl1pPr>
            <a:lvl2pPr>
              <a:lnSpc>
                <a:spcPct val="150000"/>
              </a:lnSpc>
              <a:defRPr sz="1013"/>
            </a:lvl2pPr>
            <a:lvl3pPr>
              <a:lnSpc>
                <a:spcPct val="150000"/>
              </a:lnSpc>
              <a:defRPr sz="844"/>
            </a:lvl3pPr>
            <a:lvl4pPr>
              <a:lnSpc>
                <a:spcPct val="150000"/>
              </a:lnSpc>
              <a:defRPr sz="760"/>
            </a:lvl4pPr>
            <a:lvl5pPr>
              <a:lnSpc>
                <a:spcPct val="150000"/>
              </a:lnSpc>
              <a:defRPr sz="760"/>
            </a:lvl5pPr>
            <a:lvl6pPr>
              <a:defRPr sz="760"/>
            </a:lvl6pPr>
            <a:lvl7pPr>
              <a:defRPr sz="760"/>
            </a:lvl7pPr>
            <a:lvl8pPr>
              <a:defRPr sz="760"/>
            </a:lvl8pPr>
            <a:lvl9pPr>
              <a:defRPr sz="76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A16E7FA0-5F0B-BB0C-3524-E6DCA79CA944}"/>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45E3F1D1-2A85-A3C7-9A85-09EFEC8FCDEE}"/>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205A9981-2A6B-CB3E-00C6-2E6851DC5489}"/>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9788886"/>
      </p:ext>
    </p:extLst>
  </p:cSld>
  <p:clrMapOvr>
    <a:masterClrMapping/>
  </p:clrMapOvr>
  <p:transition>
    <p:wheel spokes="8"/>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013"/>
            </a:lvl1pPr>
            <a:lvl2pPr>
              <a:defRPr sz="844"/>
            </a:lvl2pPr>
            <a:lvl3pPr>
              <a:defRPr sz="760"/>
            </a:lvl3pPr>
            <a:lvl4pPr>
              <a:defRPr sz="675"/>
            </a:lvl4pPr>
            <a:lvl5pPr>
              <a:defRPr sz="675"/>
            </a:lvl5pPr>
            <a:lvl6pPr>
              <a:defRPr sz="675"/>
            </a:lvl6pPr>
            <a:lvl7pPr>
              <a:defRPr sz="675"/>
            </a:lvl7pPr>
            <a:lvl8pPr>
              <a:defRPr sz="675"/>
            </a:lvl8pPr>
            <a:lvl9pPr>
              <a:defRPr sz="6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013"/>
            </a:lvl1pPr>
            <a:lvl2pPr>
              <a:defRPr sz="844"/>
            </a:lvl2pPr>
            <a:lvl3pPr>
              <a:defRPr sz="760"/>
            </a:lvl3pPr>
            <a:lvl4pPr>
              <a:defRPr sz="675"/>
            </a:lvl4pPr>
            <a:lvl5pPr>
              <a:defRPr sz="675"/>
            </a:lvl5pPr>
            <a:lvl6pPr>
              <a:defRPr sz="675"/>
            </a:lvl6pPr>
            <a:lvl7pPr>
              <a:defRPr sz="675"/>
            </a:lvl7pPr>
            <a:lvl8pPr>
              <a:defRPr sz="675"/>
            </a:lvl8pPr>
            <a:lvl9pPr>
              <a:defRPr sz="6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A2C72C8-21AF-497A-67DE-E921BDF13C1C}"/>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8" name="Footer Placeholder 4">
            <a:extLst>
              <a:ext uri="{FF2B5EF4-FFF2-40B4-BE49-F238E27FC236}">
                <a16:creationId xmlns:a16="http://schemas.microsoft.com/office/drawing/2014/main" id="{004980CB-849D-206F-84E8-039178A32063}"/>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9" name="Slide Number Placeholder 5">
            <a:extLst>
              <a:ext uri="{FF2B5EF4-FFF2-40B4-BE49-F238E27FC236}">
                <a16:creationId xmlns:a16="http://schemas.microsoft.com/office/drawing/2014/main" id="{C9D72F46-FC5F-FF1B-3128-B885F008E58E}"/>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0294183"/>
      </p:ext>
    </p:extLst>
  </p:cSld>
  <p:clrMapOvr>
    <a:masterClrMapping/>
  </p:clrMapOvr>
  <p:transition>
    <p:wheel spokes="8"/>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150000"/>
              </a:lnSpc>
              <a:defRPr/>
            </a:lvl1pPr>
          </a:lstStyle>
          <a:p>
            <a:r>
              <a:rPr lang="en-US" dirty="0"/>
              <a:t>Click to edit Master title style</a:t>
            </a:r>
          </a:p>
        </p:txBody>
      </p:sp>
      <p:sp>
        <p:nvSpPr>
          <p:cNvPr id="3" name="Date Placeholder 3">
            <a:extLst>
              <a:ext uri="{FF2B5EF4-FFF2-40B4-BE49-F238E27FC236}">
                <a16:creationId xmlns:a16="http://schemas.microsoft.com/office/drawing/2014/main" id="{BEF5B74D-2203-E6E5-6871-FC4C5DCC6DA9}"/>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4" name="Footer Placeholder 4">
            <a:extLst>
              <a:ext uri="{FF2B5EF4-FFF2-40B4-BE49-F238E27FC236}">
                <a16:creationId xmlns:a16="http://schemas.microsoft.com/office/drawing/2014/main" id="{1B897142-7990-546B-0C10-BBBAEB34D65C}"/>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5" name="Slide Number Placeholder 5">
            <a:extLst>
              <a:ext uri="{FF2B5EF4-FFF2-40B4-BE49-F238E27FC236}">
                <a16:creationId xmlns:a16="http://schemas.microsoft.com/office/drawing/2014/main" id="{C65BA3B6-E895-85DC-A8AD-7418BE333FCD}"/>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49055231"/>
      </p:ext>
    </p:extLst>
  </p:cSld>
  <p:clrMapOvr>
    <a:masterClrMapping/>
  </p:clrMapOvr>
  <p:transition>
    <p:wheel spokes="8"/>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0599D0C-0DA8-E30E-F317-86AD2AA2789E}"/>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3" name="Footer Placeholder 4">
            <a:extLst>
              <a:ext uri="{FF2B5EF4-FFF2-40B4-BE49-F238E27FC236}">
                <a16:creationId xmlns:a16="http://schemas.microsoft.com/office/drawing/2014/main" id="{9F7C7326-0DEA-5E72-E4C3-75ABC4067A31}"/>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5">
            <a:extLst>
              <a:ext uri="{FF2B5EF4-FFF2-40B4-BE49-F238E27FC236}">
                <a16:creationId xmlns:a16="http://schemas.microsoft.com/office/drawing/2014/main" id="{4DB9D480-E56C-7FB5-AA9F-41FD30E7A843}"/>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5341669"/>
      </p:ext>
    </p:extLst>
  </p:cSld>
  <p:clrMapOvr>
    <a:masterClrMapping/>
  </p:clrMapOvr>
  <p:transition>
    <p:wheel spokes="8"/>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lnSpc>
                <a:spcPct val="150000"/>
              </a:lnSpc>
              <a:defRPr sz="844" b="1"/>
            </a:lvl1pPr>
          </a:lstStyle>
          <a:p>
            <a:r>
              <a:rPr lang="en-US" dirty="0"/>
              <a:t>Click to edit Master title style</a:t>
            </a:r>
          </a:p>
        </p:txBody>
      </p:sp>
      <p:sp>
        <p:nvSpPr>
          <p:cNvPr id="3" name="Content Placeholder 2"/>
          <p:cNvSpPr>
            <a:spLocks noGrp="1"/>
          </p:cNvSpPr>
          <p:nvPr>
            <p:ph idx="1"/>
          </p:nvPr>
        </p:nvSpPr>
        <p:spPr>
          <a:xfrm>
            <a:off x="3575050" y="273056"/>
            <a:ext cx="5111750" cy="5853113"/>
          </a:xfrm>
        </p:spPr>
        <p:txBody>
          <a:bodyPr/>
          <a:lstStyle>
            <a:lvl1pPr>
              <a:lnSpc>
                <a:spcPct val="150000"/>
              </a:lnSpc>
              <a:defRPr sz="1350"/>
            </a:lvl1pPr>
            <a:lvl2pPr>
              <a:lnSpc>
                <a:spcPct val="150000"/>
              </a:lnSpc>
              <a:defRPr sz="1181"/>
            </a:lvl2pPr>
            <a:lvl3pPr>
              <a:lnSpc>
                <a:spcPct val="150000"/>
              </a:lnSpc>
              <a:defRPr sz="1013"/>
            </a:lvl3pPr>
            <a:lvl4pPr>
              <a:lnSpc>
                <a:spcPct val="150000"/>
              </a:lnSpc>
              <a:defRPr sz="844"/>
            </a:lvl4pPr>
            <a:lvl5pPr>
              <a:lnSpc>
                <a:spcPct val="150000"/>
              </a:lnSpc>
              <a:defRPr sz="844"/>
            </a:lvl5pPr>
            <a:lvl6pPr>
              <a:defRPr sz="844"/>
            </a:lvl6pPr>
            <a:lvl7pPr>
              <a:defRPr sz="844"/>
            </a:lvl7pPr>
            <a:lvl8pPr>
              <a:defRPr sz="844"/>
            </a:lvl8pPr>
            <a:lvl9pPr>
              <a:defRPr sz="844"/>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lnSpc>
                <a:spcPct val="150000"/>
              </a:lnSpc>
              <a:buNone/>
              <a:defRPr sz="591"/>
            </a:lvl1pPr>
            <a:lvl2pPr marL="192881" indent="0">
              <a:buNone/>
              <a:defRPr sz="506"/>
            </a:lvl2pPr>
            <a:lvl3pPr marL="385763" indent="0">
              <a:buNone/>
              <a:defRPr sz="422"/>
            </a:lvl3pPr>
            <a:lvl4pPr marL="578644" indent="0">
              <a:buNone/>
              <a:defRPr sz="380"/>
            </a:lvl4pPr>
            <a:lvl5pPr marL="771525" indent="0">
              <a:buNone/>
              <a:defRPr sz="380"/>
            </a:lvl5pPr>
            <a:lvl6pPr marL="964406" indent="0">
              <a:buNone/>
              <a:defRPr sz="380"/>
            </a:lvl6pPr>
            <a:lvl7pPr marL="1157288" indent="0">
              <a:buNone/>
              <a:defRPr sz="380"/>
            </a:lvl7pPr>
            <a:lvl8pPr marL="1350169" indent="0">
              <a:buNone/>
              <a:defRPr sz="380"/>
            </a:lvl8pPr>
            <a:lvl9pPr marL="1543050" indent="0">
              <a:buNone/>
              <a:defRPr sz="380"/>
            </a:lvl9pPr>
          </a:lstStyle>
          <a:p>
            <a:pPr lvl="0"/>
            <a:r>
              <a:rPr lang="en-US" dirty="0"/>
              <a:t>Click to edit Master text styles</a:t>
            </a:r>
          </a:p>
        </p:txBody>
      </p:sp>
      <p:sp>
        <p:nvSpPr>
          <p:cNvPr id="5" name="Date Placeholder 3">
            <a:extLst>
              <a:ext uri="{FF2B5EF4-FFF2-40B4-BE49-F238E27FC236}">
                <a16:creationId xmlns:a16="http://schemas.microsoft.com/office/drawing/2014/main" id="{0D87B821-924C-D25C-0EDB-1C27113C76DE}"/>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85F1E4AE-9116-8170-07FA-BB664546A554}"/>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2F8711BC-508F-8847-C803-1AB86AD606D7}"/>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1026948"/>
      </p:ext>
    </p:extLst>
  </p:cSld>
  <p:clrMapOvr>
    <a:masterClrMapping/>
  </p:clrMapOvr>
  <p:transition>
    <p:wheel spokes="8"/>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lnSpc>
                <a:spcPct val="150000"/>
              </a:lnSpc>
              <a:defRPr sz="844"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1350"/>
            </a:lvl1pPr>
            <a:lvl2pPr marL="192881" indent="0">
              <a:buNone/>
              <a:defRPr sz="1181"/>
            </a:lvl2pPr>
            <a:lvl3pPr marL="385763" indent="0">
              <a:buNone/>
              <a:defRPr sz="1013"/>
            </a:lvl3pPr>
            <a:lvl4pPr marL="578644" indent="0">
              <a:buNone/>
              <a:defRPr sz="844"/>
            </a:lvl4pPr>
            <a:lvl5pPr marL="771525" indent="0">
              <a:buNone/>
              <a:defRPr sz="844"/>
            </a:lvl5pPr>
            <a:lvl6pPr marL="964406" indent="0">
              <a:buNone/>
              <a:defRPr sz="844"/>
            </a:lvl6pPr>
            <a:lvl7pPr marL="1157288" indent="0">
              <a:buNone/>
              <a:defRPr sz="844"/>
            </a:lvl7pPr>
            <a:lvl8pPr marL="1350169" indent="0">
              <a:buNone/>
              <a:defRPr sz="844"/>
            </a:lvl8pPr>
            <a:lvl9pPr marL="1543050" indent="0">
              <a:buNone/>
              <a:defRPr sz="844"/>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lnSpc>
                <a:spcPct val="150000"/>
              </a:lnSpc>
              <a:buNone/>
              <a:defRPr sz="591"/>
            </a:lvl1pPr>
            <a:lvl2pPr marL="192881" indent="0">
              <a:buNone/>
              <a:defRPr sz="506"/>
            </a:lvl2pPr>
            <a:lvl3pPr marL="385763" indent="0">
              <a:buNone/>
              <a:defRPr sz="422"/>
            </a:lvl3pPr>
            <a:lvl4pPr marL="578644" indent="0">
              <a:buNone/>
              <a:defRPr sz="380"/>
            </a:lvl4pPr>
            <a:lvl5pPr marL="771525" indent="0">
              <a:buNone/>
              <a:defRPr sz="380"/>
            </a:lvl5pPr>
            <a:lvl6pPr marL="964406" indent="0">
              <a:buNone/>
              <a:defRPr sz="380"/>
            </a:lvl6pPr>
            <a:lvl7pPr marL="1157288" indent="0">
              <a:buNone/>
              <a:defRPr sz="380"/>
            </a:lvl7pPr>
            <a:lvl8pPr marL="1350169" indent="0">
              <a:buNone/>
              <a:defRPr sz="380"/>
            </a:lvl8pPr>
            <a:lvl9pPr marL="1543050" indent="0">
              <a:buNone/>
              <a:defRPr sz="380"/>
            </a:lvl9pPr>
          </a:lstStyle>
          <a:p>
            <a:pPr lvl="0"/>
            <a:r>
              <a:rPr lang="en-US" dirty="0"/>
              <a:t>Click to edit Master text styles</a:t>
            </a:r>
          </a:p>
        </p:txBody>
      </p:sp>
      <p:sp>
        <p:nvSpPr>
          <p:cNvPr id="5" name="Date Placeholder 3">
            <a:extLst>
              <a:ext uri="{FF2B5EF4-FFF2-40B4-BE49-F238E27FC236}">
                <a16:creationId xmlns:a16="http://schemas.microsoft.com/office/drawing/2014/main" id="{DE3B496E-972A-58A7-9439-8F625232B6F0}"/>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7E8D3489-9DE1-98E6-503A-B8FF2FD0422A}"/>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1DC38586-AC48-A840-D6BC-8D0F8185955B}"/>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0462261"/>
      </p:ext>
    </p:extLst>
  </p:cSld>
  <p:clrMapOvr>
    <a:masterClrMapping/>
  </p:clrMapOvr>
  <p:transition>
    <p:wheel spokes="8"/>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150000"/>
              </a:lnSpc>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4188A49-3417-D2B7-4129-F1E9788F692F}"/>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51A8E95-740A-BD96-8BBB-CAA892542C90}"/>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EE7CF2AD-1C5F-E42C-0720-9FA3B6DC9872}"/>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8264422"/>
      </p:ext>
    </p:extLst>
  </p:cSld>
  <p:clrMapOvr>
    <a:masterClrMapping/>
  </p:clrMapOvr>
  <p:transition>
    <p:wheel spokes="8"/>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lvl1pPr>
              <a:lnSpc>
                <a:spcPct val="150000"/>
              </a:lnSpc>
              <a:defRPr/>
            </a:lvl1pPr>
          </a:lstStyle>
          <a:p>
            <a:r>
              <a:rPr lang="en-US" dirty="0"/>
              <a:t>Click to edit Master title style</a:t>
            </a:r>
          </a:p>
        </p:txBody>
      </p:sp>
      <p:sp>
        <p:nvSpPr>
          <p:cNvPr id="3" name="Vertical Text Placeholder 2"/>
          <p:cNvSpPr>
            <a:spLocks noGrp="1"/>
          </p:cNvSpPr>
          <p:nvPr>
            <p:ph type="body" orient="vert" idx="1"/>
          </p:nvPr>
        </p:nvSpPr>
        <p:spPr>
          <a:xfrm>
            <a:off x="457200" y="274644"/>
            <a:ext cx="6019800" cy="5851525"/>
          </a:xfrm>
        </p:spPr>
        <p:txBody>
          <a:bodyPr vert="eaVert"/>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0B5F26C-E0F9-2548-623B-D1C7B8E33315}"/>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360C878-B427-8773-E6F2-92912AC74D9C}"/>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C14AFDF4-2626-9E28-80B5-7EDF545C5955}"/>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4848953"/>
      </p:ext>
    </p:extLst>
  </p:cSld>
  <p:clrMapOvr>
    <a:masterClrMapping/>
  </p:clrMapOvr>
  <p:transition>
    <p:wheel spokes="8"/>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38200" y="342900"/>
            <a:ext cx="7772400" cy="1104900"/>
          </a:xfrm>
        </p:spPr>
        <p:txBody>
          <a:bodyPr/>
          <a:lstStyle>
            <a:lvl1pPr>
              <a:lnSpc>
                <a:spcPct val="150000"/>
              </a:lnSpc>
              <a:defRPr/>
            </a:lvl1pPr>
          </a:lstStyle>
          <a:p>
            <a:r>
              <a:rPr lang="en-US" dirty="0"/>
              <a:t>Click to edit Master title style</a:t>
            </a:r>
          </a:p>
        </p:txBody>
      </p:sp>
      <p:sp>
        <p:nvSpPr>
          <p:cNvPr id="3" name="Text Placeholder 2"/>
          <p:cNvSpPr>
            <a:spLocks noGrp="1"/>
          </p:cNvSpPr>
          <p:nvPr>
            <p:ph type="body" sz="half" idx="1"/>
          </p:nvPr>
        </p:nvSpPr>
        <p:spPr>
          <a:xfrm>
            <a:off x="838200" y="1752600"/>
            <a:ext cx="3810000" cy="4114800"/>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lipArt Placeholder 3"/>
          <p:cNvSpPr>
            <a:spLocks noGrp="1"/>
          </p:cNvSpPr>
          <p:nvPr>
            <p:ph type="clipArt" sz="half" idx="2"/>
          </p:nvPr>
        </p:nvSpPr>
        <p:spPr>
          <a:xfrm>
            <a:off x="4800600" y="1752600"/>
            <a:ext cx="3810000" cy="4114800"/>
          </a:xfrm>
        </p:spPr>
        <p:txBody>
          <a:bodyPr rtlCol="0">
            <a:normAutofit/>
          </a:bodyPr>
          <a:lstStyle>
            <a:lvl1pPr>
              <a:lnSpc>
                <a:spcPct val="150000"/>
              </a:lnSpc>
              <a:defRPr/>
            </a:lvl1pPr>
          </a:lstStyle>
          <a:p>
            <a:pPr lvl="0"/>
            <a:r>
              <a:rPr lang="en-US" noProof="0" dirty="0"/>
              <a:t>Click icon to add online image</a:t>
            </a:r>
          </a:p>
        </p:txBody>
      </p:sp>
      <p:sp>
        <p:nvSpPr>
          <p:cNvPr id="5" name="Date Placeholder 3">
            <a:extLst>
              <a:ext uri="{FF2B5EF4-FFF2-40B4-BE49-F238E27FC236}">
                <a16:creationId xmlns:a16="http://schemas.microsoft.com/office/drawing/2014/main" id="{182D2DFF-8903-DD96-0B15-B766FBDAF15B}"/>
              </a:ext>
            </a:extLst>
          </p:cNvPr>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pPr/>
              <a:t>7/12/2026</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39C0DE20-DEDA-A2B5-520C-F5BA14BC5E05}"/>
              </a:ext>
            </a:extLst>
          </p:cNvPr>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00E38790-BB81-BC42-6978-6EC6268E96BD}"/>
              </a:ext>
            </a:extLst>
          </p:cNvPr>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58313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2.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28/08/2020</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Datta Meghe Institute of Medical Sciences  Deemed to be University,  </a:t>
            </a:r>
            <a:r>
              <a:rPr lang="en-US" dirty="0" err="1"/>
              <a:t>Sawangi</a:t>
            </a:r>
            <a:r>
              <a:rPr lang="en-US" dirty="0"/>
              <a:t> (Meghe)Wardha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lnSpc>
          <a:spcPct val="15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lnSpc>
          <a:spcPct val="150000"/>
        </a:lnSpc>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lnSpc>
          <a:spcPct val="150000"/>
        </a:lnSpc>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438"/>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28/08/2020</a:t>
            </a:r>
          </a:p>
        </p:txBody>
      </p:sp>
      <p:sp>
        <p:nvSpPr>
          <p:cNvPr id="5" name="Footer Placeholder 4"/>
          <p:cNvSpPr>
            <a:spLocks noGrp="1"/>
          </p:cNvSpPr>
          <p:nvPr>
            <p:ph type="ftr" sz="quarter" idx="3"/>
          </p:nvPr>
        </p:nvSpPr>
        <p:spPr>
          <a:xfrm>
            <a:off x="3124200" y="6356438"/>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   Datta Meghe Institute of Medical Sciences  Deemed to be University,  Sawangi (Meghe)Wardha</a:t>
            </a:r>
          </a:p>
        </p:txBody>
      </p:sp>
      <p:sp>
        <p:nvSpPr>
          <p:cNvPr id="6" name="Slide Number Placeholder 5"/>
          <p:cNvSpPr>
            <a:spLocks noGrp="1"/>
          </p:cNvSpPr>
          <p:nvPr>
            <p:ph type="sldNum" sz="quarter" idx="4"/>
          </p:nvPr>
        </p:nvSpPr>
        <p:spPr>
          <a:xfrm>
            <a:off x="6553200" y="6356438"/>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723178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EE44085-7B60-DB8A-EE44-9E204828B2D2}"/>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1438204-47F7-1AF3-2E1A-B5517908DD03}"/>
              </a:ext>
            </a:extLst>
          </p:cNvPr>
          <p:cNvSpPr>
            <a:spLocks noGrp="1" noChangeArrowheads="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5AFCE6D-F903-E7AE-BC86-8494E2ED7916}"/>
              </a:ext>
            </a:extLst>
          </p:cNvPr>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506">
                <a:solidFill>
                  <a:schemeClr val="tx1">
                    <a:tint val="75000"/>
                  </a:schemeClr>
                </a:solidFill>
                <a:latin typeface="+mn-lt"/>
              </a:defRPr>
            </a:lvl1pPr>
          </a:lstStyle>
          <a:p>
            <a:r>
              <a:rPr lang="en-US"/>
              <a:t>28/08/2020</a:t>
            </a:r>
          </a:p>
        </p:txBody>
      </p:sp>
      <p:sp>
        <p:nvSpPr>
          <p:cNvPr id="5" name="Footer Placeholder 4">
            <a:extLst>
              <a:ext uri="{FF2B5EF4-FFF2-40B4-BE49-F238E27FC236}">
                <a16:creationId xmlns:a16="http://schemas.microsoft.com/office/drawing/2014/main" id="{B50C4C8E-DABF-A158-49CB-7185C5D14510}"/>
              </a:ext>
            </a:extLst>
          </p:cNvPr>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506">
                <a:solidFill>
                  <a:schemeClr val="tx1">
                    <a:tint val="75000"/>
                  </a:schemeClr>
                </a:solidFill>
                <a:latin typeface="+mn-lt"/>
              </a:defRPr>
            </a:lvl1pPr>
          </a:lstStyle>
          <a:p>
            <a:r>
              <a:rPr lang="en-US"/>
              <a:t>   Datta Meghe Institute of Medical Sciences  Deemed to be University,  Sawangi (Meghe)Wardha</a:t>
            </a:r>
          </a:p>
        </p:txBody>
      </p:sp>
      <p:sp>
        <p:nvSpPr>
          <p:cNvPr id="6" name="Slide Number Placeholder 5">
            <a:extLst>
              <a:ext uri="{FF2B5EF4-FFF2-40B4-BE49-F238E27FC236}">
                <a16:creationId xmlns:a16="http://schemas.microsoft.com/office/drawing/2014/main" id="{D8496AA4-A94E-5DA0-013D-22AD859D3E0E}"/>
              </a:ext>
            </a:extLst>
          </p:cNvPr>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506">
                <a:solidFill>
                  <a:schemeClr val="tx1">
                    <a:tint val="75000"/>
                  </a:schemeClr>
                </a:solidFill>
                <a:latin typeface="+mn-lt"/>
              </a:defRPr>
            </a:lvl1pPr>
          </a:lstStyle>
          <a:p>
            <a:fld id="{B6F15528-21DE-4FAA-801E-634DDDAF4B2B}" type="slidenum">
              <a:rPr lang="en-US" smtClean="0"/>
              <a:pPr/>
              <a:t>‹#›</a:t>
            </a:fld>
            <a:endParaRPr lang="en-US"/>
          </a:p>
        </p:txBody>
      </p:sp>
      <p:pic>
        <p:nvPicPr>
          <p:cNvPr id="1031" name="Picture 7">
            <a:extLst>
              <a:ext uri="{FF2B5EF4-FFF2-40B4-BE49-F238E27FC236}">
                <a16:creationId xmlns:a16="http://schemas.microsoft.com/office/drawing/2014/main" id="{A76C708F-4528-097C-816B-5D92B3E3EA6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6675"/>
            <a:ext cx="117991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9511869"/>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Lst>
  <p:transition>
    <p:wheel spokes="8"/>
  </p:transition>
  <p:hf hdr="0"/>
  <p:txStyles>
    <p:titleStyle>
      <a:lvl1pPr algn="ctr" defTabSz="385763" rtl="0" eaLnBrk="1" fontAlgn="base" hangingPunct="1">
        <a:spcBef>
          <a:spcPct val="0"/>
        </a:spcBef>
        <a:spcAft>
          <a:spcPct val="0"/>
        </a:spcAft>
        <a:defRPr sz="1800" kern="1200">
          <a:solidFill>
            <a:schemeClr val="tx1"/>
          </a:solidFill>
          <a:latin typeface="+mj-lt"/>
          <a:ea typeface="+mj-ea"/>
          <a:cs typeface="+mj-cs"/>
        </a:defRPr>
      </a:lvl1pPr>
      <a:lvl2pPr algn="ctr" defTabSz="385763" rtl="0" eaLnBrk="1" fontAlgn="base" hangingPunct="1">
        <a:spcBef>
          <a:spcPct val="0"/>
        </a:spcBef>
        <a:spcAft>
          <a:spcPct val="0"/>
        </a:spcAft>
        <a:defRPr sz="1800">
          <a:solidFill>
            <a:schemeClr val="tx1"/>
          </a:solidFill>
          <a:latin typeface="Calibri" panose="020F0502020204030204" pitchFamily="34" charset="0"/>
        </a:defRPr>
      </a:lvl2pPr>
      <a:lvl3pPr algn="ctr" defTabSz="385763" rtl="0" eaLnBrk="1" fontAlgn="base" hangingPunct="1">
        <a:spcBef>
          <a:spcPct val="0"/>
        </a:spcBef>
        <a:spcAft>
          <a:spcPct val="0"/>
        </a:spcAft>
        <a:defRPr sz="1800">
          <a:solidFill>
            <a:schemeClr val="tx1"/>
          </a:solidFill>
          <a:latin typeface="Calibri" panose="020F0502020204030204" pitchFamily="34" charset="0"/>
        </a:defRPr>
      </a:lvl3pPr>
      <a:lvl4pPr algn="ctr" defTabSz="385763" rtl="0" eaLnBrk="1" fontAlgn="base" hangingPunct="1">
        <a:spcBef>
          <a:spcPct val="0"/>
        </a:spcBef>
        <a:spcAft>
          <a:spcPct val="0"/>
        </a:spcAft>
        <a:defRPr sz="1800">
          <a:solidFill>
            <a:schemeClr val="tx1"/>
          </a:solidFill>
          <a:latin typeface="Calibri" panose="020F0502020204030204" pitchFamily="34" charset="0"/>
        </a:defRPr>
      </a:lvl4pPr>
      <a:lvl5pPr algn="ctr" defTabSz="385763" rtl="0" eaLnBrk="1" fontAlgn="base" hangingPunct="1">
        <a:spcBef>
          <a:spcPct val="0"/>
        </a:spcBef>
        <a:spcAft>
          <a:spcPct val="0"/>
        </a:spcAft>
        <a:defRPr sz="1800">
          <a:solidFill>
            <a:schemeClr val="tx1"/>
          </a:solidFill>
          <a:latin typeface="Calibri" panose="020F0502020204030204" pitchFamily="34" charset="0"/>
        </a:defRPr>
      </a:lvl5pPr>
      <a:lvl6pPr marL="342900" algn="ctr" defTabSz="385763" rtl="0" eaLnBrk="1" fontAlgn="base" hangingPunct="1">
        <a:spcBef>
          <a:spcPct val="0"/>
        </a:spcBef>
        <a:spcAft>
          <a:spcPct val="0"/>
        </a:spcAft>
        <a:defRPr sz="1800">
          <a:solidFill>
            <a:schemeClr val="tx1"/>
          </a:solidFill>
          <a:latin typeface="Calibri" panose="020F0502020204030204" pitchFamily="34" charset="0"/>
        </a:defRPr>
      </a:lvl6pPr>
      <a:lvl7pPr marL="685800" algn="ctr" defTabSz="385763" rtl="0" eaLnBrk="1" fontAlgn="base" hangingPunct="1">
        <a:spcBef>
          <a:spcPct val="0"/>
        </a:spcBef>
        <a:spcAft>
          <a:spcPct val="0"/>
        </a:spcAft>
        <a:defRPr sz="1800">
          <a:solidFill>
            <a:schemeClr val="tx1"/>
          </a:solidFill>
          <a:latin typeface="Calibri" panose="020F0502020204030204" pitchFamily="34" charset="0"/>
        </a:defRPr>
      </a:lvl7pPr>
      <a:lvl8pPr marL="1028700" algn="ctr" defTabSz="385763" rtl="0" eaLnBrk="1" fontAlgn="base" hangingPunct="1">
        <a:spcBef>
          <a:spcPct val="0"/>
        </a:spcBef>
        <a:spcAft>
          <a:spcPct val="0"/>
        </a:spcAft>
        <a:defRPr sz="1800">
          <a:solidFill>
            <a:schemeClr val="tx1"/>
          </a:solidFill>
          <a:latin typeface="Calibri" panose="020F0502020204030204" pitchFamily="34" charset="0"/>
        </a:defRPr>
      </a:lvl8pPr>
      <a:lvl9pPr marL="1371600" algn="ctr" defTabSz="385763" rtl="0" eaLnBrk="1" fontAlgn="base" hangingPunct="1">
        <a:spcBef>
          <a:spcPct val="0"/>
        </a:spcBef>
        <a:spcAft>
          <a:spcPct val="0"/>
        </a:spcAft>
        <a:defRPr sz="1800">
          <a:solidFill>
            <a:schemeClr val="tx1"/>
          </a:solidFill>
          <a:latin typeface="Calibri" panose="020F0502020204030204" pitchFamily="34" charset="0"/>
        </a:defRPr>
      </a:lvl9pPr>
    </p:titleStyle>
    <p:bodyStyle>
      <a:lvl1pPr marL="144066" indent="-144066" algn="l" defTabSz="385763" rtl="0" eaLnBrk="1" fontAlgn="base" hangingPunct="1">
        <a:spcBef>
          <a:spcPct val="20000"/>
        </a:spcBef>
        <a:spcAft>
          <a:spcPct val="0"/>
        </a:spcAft>
        <a:buFont typeface="Arial" panose="020B0604020202020204" pitchFamily="34" charset="0"/>
        <a:buChar char="•"/>
        <a:defRPr kern="1200">
          <a:solidFill>
            <a:schemeClr val="tx1"/>
          </a:solidFill>
          <a:latin typeface="+mn-lt"/>
          <a:ea typeface="+mn-ea"/>
          <a:cs typeface="+mn-cs"/>
        </a:defRPr>
      </a:lvl1pPr>
      <a:lvl2pPr marL="313135" indent="-120254" algn="l" defTabSz="385763" rtl="0" eaLnBrk="1" fontAlgn="base" hangingPunct="1">
        <a:spcBef>
          <a:spcPct val="20000"/>
        </a:spcBef>
        <a:spcAft>
          <a:spcPct val="0"/>
        </a:spcAft>
        <a:buFont typeface="Arial" panose="020B0604020202020204" pitchFamily="34" charset="0"/>
        <a:buChar char="–"/>
        <a:defRPr sz="1125" kern="1200">
          <a:solidFill>
            <a:schemeClr val="tx1"/>
          </a:solidFill>
          <a:latin typeface="+mn-lt"/>
          <a:ea typeface="+mn-ea"/>
          <a:cs typeface="+mn-cs"/>
        </a:defRPr>
      </a:lvl2pPr>
      <a:lvl3pPr marL="482204" indent="-96441" algn="l" defTabSz="385763" rtl="0" eaLnBrk="1" fontAlgn="base" hangingPunct="1">
        <a:spcBef>
          <a:spcPct val="20000"/>
        </a:spcBef>
        <a:spcAft>
          <a:spcPct val="0"/>
        </a:spcAft>
        <a:buFont typeface="Arial" panose="020B0604020202020204" pitchFamily="34" charset="0"/>
        <a:buChar char="•"/>
        <a:defRPr sz="975" kern="1200">
          <a:solidFill>
            <a:schemeClr val="tx1"/>
          </a:solidFill>
          <a:latin typeface="+mn-lt"/>
          <a:ea typeface="+mn-ea"/>
          <a:cs typeface="+mn-cs"/>
        </a:defRPr>
      </a:lvl3pPr>
      <a:lvl4pPr marL="675085" indent="-96441" algn="l" defTabSz="385763" rtl="0" eaLnBrk="1" fontAlgn="base" hangingPunct="1">
        <a:spcBef>
          <a:spcPct val="20000"/>
        </a:spcBef>
        <a:spcAft>
          <a:spcPct val="0"/>
        </a:spcAft>
        <a:buFont typeface="Arial" panose="020B0604020202020204" pitchFamily="34" charset="0"/>
        <a:buChar char="–"/>
        <a:defRPr sz="825" kern="1200">
          <a:solidFill>
            <a:schemeClr val="tx1"/>
          </a:solidFill>
          <a:latin typeface="+mn-lt"/>
          <a:ea typeface="+mn-ea"/>
          <a:cs typeface="+mn-cs"/>
        </a:defRPr>
      </a:lvl4pPr>
      <a:lvl5pPr marL="867966" indent="-96441" algn="l" defTabSz="385763" rtl="0" eaLnBrk="1" fontAlgn="base" hangingPunct="1">
        <a:spcBef>
          <a:spcPct val="20000"/>
        </a:spcBef>
        <a:spcAft>
          <a:spcPct val="0"/>
        </a:spcAft>
        <a:buFont typeface="Arial" panose="020B0604020202020204" pitchFamily="34" charset="0"/>
        <a:buChar char="»"/>
        <a:defRPr sz="825" kern="1200">
          <a:solidFill>
            <a:schemeClr val="tx1"/>
          </a:solidFill>
          <a:latin typeface="+mn-lt"/>
          <a:ea typeface="+mn-ea"/>
          <a:cs typeface="+mn-cs"/>
        </a:defRPr>
      </a:lvl5pPr>
      <a:lvl6pPr marL="1060847"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6pPr>
      <a:lvl7pPr marL="1253729"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7pPr>
      <a:lvl8pPr marL="1446610"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8pPr>
      <a:lvl9pPr marL="1639491" indent="-96441" algn="l" defTabSz="385763" rtl="0" eaLnBrk="1" latinLnBrk="0" hangingPunct="1">
        <a:spcBef>
          <a:spcPct val="20000"/>
        </a:spcBef>
        <a:buFont typeface="Arial" pitchFamily="34" charset="0"/>
        <a:buChar char="•"/>
        <a:defRPr sz="844" kern="1200">
          <a:solidFill>
            <a:schemeClr val="tx1"/>
          </a:solidFill>
          <a:latin typeface="+mn-lt"/>
          <a:ea typeface="+mn-ea"/>
          <a:cs typeface="+mn-cs"/>
        </a:defRPr>
      </a:lvl9pPr>
    </p:bodyStyle>
    <p:otherStyle>
      <a:defPPr>
        <a:defRPr lang="en-US"/>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10;&#10;Description automatically generated with medium confidence">
            <a:extLst>
              <a:ext uri="{FF2B5EF4-FFF2-40B4-BE49-F238E27FC236}">
                <a16:creationId xmlns:a16="http://schemas.microsoft.com/office/drawing/2014/main" id="{446F3FDE-D180-F0E4-1D34-24F85E373962}"/>
              </a:ext>
            </a:extLst>
          </p:cNvPr>
          <p:cNvPicPr>
            <a:picLocks noChangeAspect="1"/>
          </p:cNvPicPr>
          <p:nvPr/>
        </p:nvPicPr>
        <p:blipFill>
          <a:blip r:embed="rId3"/>
          <a:stretch>
            <a:fillRect/>
          </a:stretch>
        </p:blipFill>
        <p:spPr>
          <a:xfrm>
            <a:off x="0" y="0"/>
            <a:ext cx="9144000" cy="6324600"/>
          </a:xfrm>
          <a:prstGeom prst="rect">
            <a:avLst/>
          </a:prstGeom>
        </p:spPr>
      </p:pic>
      <p:sp>
        <p:nvSpPr>
          <p:cNvPr id="7" name="TextBox 6">
            <a:extLst>
              <a:ext uri="{FF2B5EF4-FFF2-40B4-BE49-F238E27FC236}">
                <a16:creationId xmlns:a16="http://schemas.microsoft.com/office/drawing/2014/main" id="{DE1C2DC3-90D2-BB07-5384-6A1BFB5D4517}"/>
              </a:ext>
            </a:extLst>
          </p:cNvPr>
          <p:cNvSpPr txBox="1"/>
          <p:nvPr/>
        </p:nvSpPr>
        <p:spPr>
          <a:xfrm>
            <a:off x="990600" y="3429000"/>
            <a:ext cx="7034893" cy="1318631"/>
          </a:xfrm>
          <a:prstGeom prst="rect">
            <a:avLst/>
          </a:prstGeom>
          <a:noFill/>
        </p:spPr>
        <p:txBody>
          <a:bodyPr wrap="square" rtlCol="0">
            <a:spAutoFit/>
          </a:bodyPr>
          <a:lstStyle/>
          <a:p>
            <a:pPr algn="ctr">
              <a:lnSpc>
                <a:spcPct val="150000"/>
              </a:lnSpc>
            </a:pPr>
            <a:r>
              <a:rPr lang="en-US" sz="3200" dirty="0">
                <a:solidFill>
                  <a:prstClr val="white"/>
                </a:solidFill>
                <a:latin typeface="Times New Roman" pitchFamily="18" charset="0"/>
                <a:cs typeface="Times New Roman" pitchFamily="18" charset="0"/>
              </a:rPr>
              <a:t>Faculty of Engineering and Technology</a:t>
            </a:r>
          </a:p>
          <a:p>
            <a:pPr algn="ctr">
              <a:lnSpc>
                <a:spcPct val="150000"/>
              </a:lnSpc>
            </a:pPr>
            <a:r>
              <a:rPr lang="en-US" sz="2400" dirty="0">
                <a:solidFill>
                  <a:prstClr val="white"/>
                </a:solidFill>
                <a:latin typeface="Times New Roman" pitchFamily="18" charset="0"/>
                <a:cs typeface="Times New Roman" pitchFamily="18" charset="0"/>
              </a:rPr>
              <a:t>Department  of Computer Science and Engineering</a:t>
            </a:r>
            <a:endParaRPr lang="en-US" sz="24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831986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B3CF-9CB3-B4CE-D205-55D121445C1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9E32377-151E-568C-3900-82C554AF3301}"/>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2</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94EA33BD-1A6F-A3C0-BB39-B7B95659E8F8}"/>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4737F5A4-BC75-05F9-7BAB-299B0FFEA984}"/>
              </a:ext>
            </a:extLst>
          </p:cNvPr>
          <p:cNvPicPr>
            <a:picLocks noChangeAspect="1"/>
          </p:cNvPicPr>
          <p:nvPr/>
        </p:nvPicPr>
        <p:blipFill>
          <a:blip r:embed="rId3"/>
          <a:stretch>
            <a:fillRect/>
          </a:stretch>
        </p:blipFill>
        <p:spPr>
          <a:xfrm>
            <a:off x="-1" y="6248400"/>
            <a:ext cx="9144001" cy="613831"/>
          </a:xfrm>
          <a:prstGeom prst="rect">
            <a:avLst/>
          </a:prstGeom>
        </p:spPr>
      </p:pic>
      <p:sp>
        <p:nvSpPr>
          <p:cNvPr id="3" name="Rectangle 2">
            <a:extLst>
              <a:ext uri="{FF2B5EF4-FFF2-40B4-BE49-F238E27FC236}">
                <a16:creationId xmlns:a16="http://schemas.microsoft.com/office/drawing/2014/main" id="{07F069FB-2450-0A9B-6F07-BFDB43554F03}"/>
              </a:ext>
            </a:extLst>
          </p:cNvPr>
          <p:cNvSpPr/>
          <p:nvPr/>
        </p:nvSpPr>
        <p:spPr>
          <a:xfrm>
            <a:off x="457200" y="454383"/>
            <a:ext cx="8375936" cy="3152723"/>
          </a:xfrm>
          <a:prstGeom prst="rect">
            <a:avLst/>
          </a:prstGeom>
        </p:spPr>
        <p:txBody>
          <a:bodyPr wrap="square">
            <a:spAutoFit/>
          </a:bodyPr>
          <a:lstStyle/>
          <a:p>
            <a:pPr algn="ctr">
              <a:lnSpc>
                <a:spcPct val="150000"/>
              </a:lnSpc>
            </a:pPr>
            <a:r>
              <a:rPr lang="en-US" b="1" dirty="0">
                <a:latin typeface="Times New Roman" pitchFamily="18" charset="0"/>
                <a:cs typeface="Times New Roman" pitchFamily="18" charset="0"/>
              </a:rPr>
              <a:t> </a:t>
            </a:r>
            <a:r>
              <a:rPr lang="en-US" sz="2000" b="1" dirty="0">
                <a:latin typeface="Times New Roman" pitchFamily="18" charset="0"/>
                <a:cs typeface="Times New Roman" pitchFamily="18" charset="0"/>
              </a:rPr>
              <a:t>PRESENTATION FOR </a:t>
            </a:r>
          </a:p>
          <a:p>
            <a:pPr algn="ctr">
              <a:lnSpc>
                <a:spcPct val="150000"/>
              </a:lnSpc>
            </a:pPr>
            <a:r>
              <a:rPr lang="en-US" sz="2000" b="1" dirty="0">
                <a:latin typeface="Times New Roman" pitchFamily="18" charset="0"/>
                <a:cs typeface="Times New Roman" pitchFamily="18" charset="0"/>
              </a:rPr>
              <a:t>PROGRESS OF PBL TOPIC</a:t>
            </a:r>
          </a:p>
          <a:p>
            <a:pPr algn="ctr">
              <a:lnSpc>
                <a:spcPct val="150000"/>
              </a:lnSpc>
            </a:pPr>
            <a:r>
              <a:rPr lang="en-IN" sz="3200" dirty="0">
                <a:latin typeface="Times New Roman" panose="02020603050405020304" pitchFamily="18" charset="0"/>
                <a:cs typeface="Times New Roman" panose="02020603050405020304" pitchFamily="18" charset="0"/>
              </a:rPr>
              <a:t>INTELLIGENT MEDICAL AI DASHBOARD: PRIVACY-PRESERVING MULTIMODAL HEALTHCARE ANALYTICS</a:t>
            </a:r>
            <a:endParaRPr lang="en-US" sz="32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523BE17D-81A1-2281-7185-720797F88542}"/>
              </a:ext>
            </a:extLst>
          </p:cNvPr>
          <p:cNvSpPr txBox="1">
            <a:spLocks/>
          </p:cNvSpPr>
          <p:nvPr/>
        </p:nvSpPr>
        <p:spPr>
          <a:xfrm>
            <a:off x="521494" y="3597551"/>
            <a:ext cx="8375936" cy="20574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IN" sz="2000" b="1" dirty="0">
                <a:latin typeface="Times New Roman" pitchFamily="18" charset="0"/>
                <a:cs typeface="Times New Roman" pitchFamily="18" charset="0"/>
              </a:rPr>
              <a:t>ROLL NUMBER : DMET1124033</a:t>
            </a:r>
          </a:p>
          <a:p>
            <a:pPr>
              <a:lnSpc>
                <a:spcPct val="150000"/>
              </a:lnSpc>
            </a:pPr>
            <a:r>
              <a:rPr lang="en-US" sz="2000" b="1" dirty="0">
                <a:latin typeface="Times New Roman" pitchFamily="18" charset="0"/>
                <a:cs typeface="Times New Roman" pitchFamily="18" charset="0"/>
              </a:rPr>
              <a:t>NAME OF SCHOLAR:  AKSHAT NIMJE</a:t>
            </a:r>
          </a:p>
          <a:p>
            <a:pPr>
              <a:lnSpc>
                <a:spcPct val="150000"/>
              </a:lnSpc>
            </a:pPr>
            <a:r>
              <a:rPr lang="en-US" sz="2000" b="1" dirty="0">
                <a:latin typeface="Times New Roman" pitchFamily="18" charset="0"/>
                <a:cs typeface="Times New Roman" pitchFamily="18" charset="0"/>
              </a:rPr>
              <a:t>NAME OF THE SUPERVISOR: MS. LAKSHMI MADIREDDY</a:t>
            </a:r>
            <a:endParaRPr lang="en-US" sz="2000" b="1" dirty="0">
              <a:solidFill>
                <a:srgbClr val="002060"/>
              </a:solidFill>
              <a:latin typeface="Times New Roman" pitchFamily="18" charset="0"/>
              <a:cs typeface="Times New Roman" pitchFamily="18" charset="0"/>
            </a:endParaRPr>
          </a:p>
          <a:p>
            <a:pPr>
              <a:lnSpc>
                <a:spcPct val="150000"/>
              </a:lnSpc>
            </a:pPr>
            <a:r>
              <a:rPr lang="en-US" sz="1800" b="1" dirty="0">
                <a:latin typeface="Times New Roman" pitchFamily="18" charset="0"/>
                <a:cs typeface="Times New Roman" pitchFamily="18" charset="0"/>
              </a:rPr>
              <a:t>DATE :</a:t>
            </a:r>
            <a:r>
              <a:rPr lang="en-IN" sz="1800" b="1" dirty="0">
                <a:latin typeface="Times New Roman" pitchFamily="18" charset="0"/>
                <a:cs typeface="Times New Roman" pitchFamily="18" charset="0"/>
              </a:rPr>
              <a:t> 18</a:t>
            </a:r>
            <a:r>
              <a:rPr lang="en-IN" sz="1800" b="1" baseline="30000" dirty="0">
                <a:latin typeface="Times New Roman" pitchFamily="18" charset="0"/>
                <a:cs typeface="Times New Roman" pitchFamily="18" charset="0"/>
              </a:rPr>
              <a:t>th</a:t>
            </a:r>
            <a:r>
              <a:rPr lang="en-IN" sz="1800" b="1" dirty="0">
                <a:latin typeface="Times New Roman" pitchFamily="18" charset="0"/>
                <a:cs typeface="Times New Roman" pitchFamily="18" charset="0"/>
              </a:rPr>
              <a:t> July 2026</a:t>
            </a:r>
            <a:endParaRPr lang="en-US" sz="1800" b="1" dirty="0">
              <a:latin typeface="Times New Roman" pitchFamily="18" charset="0"/>
              <a:cs typeface="Times New Roman" pitchFamily="18" charset="0"/>
            </a:endParaRPr>
          </a:p>
        </p:txBody>
      </p:sp>
    </p:spTree>
    <p:extLst>
      <p:ext uri="{BB962C8B-B14F-4D97-AF65-F5344CB8AC3E}">
        <p14:creationId xmlns:p14="http://schemas.microsoft.com/office/powerpoint/2010/main" val="1231131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C29E2-875D-9786-9A22-3D823054D03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8C98AF-706D-5E18-96D8-C4147B257AA9}"/>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3</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A8F569A7-134E-47C3-C2AF-F21B4944DE73}"/>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B7C25120-6922-4604-150E-A030D104F017}"/>
              </a:ext>
            </a:extLst>
          </p:cNvPr>
          <p:cNvPicPr>
            <a:picLocks noChangeAspect="1"/>
          </p:cNvPicPr>
          <p:nvPr/>
        </p:nvPicPr>
        <p:blipFill>
          <a:blip r:embed="rId3"/>
          <a:stretch>
            <a:fillRect/>
          </a:stretch>
        </p:blipFill>
        <p:spPr>
          <a:xfrm>
            <a:off x="-1" y="6248400"/>
            <a:ext cx="9144001" cy="613831"/>
          </a:xfrm>
          <a:prstGeom prst="rect">
            <a:avLst/>
          </a:prstGeom>
        </p:spPr>
      </p:pic>
      <p:sp>
        <p:nvSpPr>
          <p:cNvPr id="3" name="Content Placeholder 2">
            <a:extLst>
              <a:ext uri="{FF2B5EF4-FFF2-40B4-BE49-F238E27FC236}">
                <a16:creationId xmlns:a16="http://schemas.microsoft.com/office/drawing/2014/main" id="{7B6650A4-7D14-5C49-D97C-4065639B5E98}"/>
              </a:ext>
            </a:extLst>
          </p:cNvPr>
          <p:cNvSpPr txBox="1">
            <a:spLocks/>
          </p:cNvSpPr>
          <p:nvPr/>
        </p:nvSpPr>
        <p:spPr>
          <a:xfrm>
            <a:off x="457200" y="990600"/>
            <a:ext cx="8229600" cy="4876800"/>
          </a:xfrm>
          <a:prstGeom prst="rect">
            <a:avLst/>
          </a:prstGeom>
        </p:spPr>
        <p:txBody>
          <a:bodyPr>
            <a:normAutofit fontScale="2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70000"/>
              </a:lnSpc>
              <a:buFont typeface="Wingdings" pitchFamily="2" charset="2"/>
              <a:buChar char="q"/>
            </a:pPr>
            <a:r>
              <a:rPr lang="en-US" sz="8000" cap="all" dirty="0">
                <a:latin typeface="Times New Roman" pitchFamily="18" charset="0"/>
                <a:cs typeface="Times New Roman" pitchFamily="18" charset="0"/>
              </a:rPr>
              <a:t>Introduction</a:t>
            </a:r>
          </a:p>
          <a:p>
            <a:pPr>
              <a:lnSpc>
                <a:spcPct val="170000"/>
              </a:lnSpc>
              <a:buFont typeface="Wingdings" pitchFamily="2" charset="2"/>
              <a:buChar char="q"/>
            </a:pPr>
            <a:r>
              <a:rPr lang="en-US" sz="8000" cap="all" dirty="0">
                <a:latin typeface="Times New Roman" pitchFamily="18" charset="0"/>
                <a:cs typeface="Times New Roman" pitchFamily="18" charset="0"/>
              </a:rPr>
              <a:t>Literature survey and Research gap analysis</a:t>
            </a:r>
          </a:p>
          <a:p>
            <a:pPr>
              <a:lnSpc>
                <a:spcPct val="170000"/>
              </a:lnSpc>
              <a:buFont typeface="Wingdings" pitchFamily="2" charset="2"/>
              <a:buChar char="q"/>
            </a:pPr>
            <a:r>
              <a:rPr lang="en-US" sz="8000" cap="all" dirty="0">
                <a:latin typeface="Times New Roman" pitchFamily="18" charset="0"/>
                <a:cs typeface="Times New Roman" pitchFamily="18" charset="0"/>
              </a:rPr>
              <a:t>Summary of Research Gap</a:t>
            </a:r>
          </a:p>
          <a:p>
            <a:pPr>
              <a:lnSpc>
                <a:spcPct val="170000"/>
              </a:lnSpc>
              <a:buFont typeface="Wingdings" pitchFamily="2" charset="2"/>
              <a:buChar char="q"/>
            </a:pPr>
            <a:r>
              <a:rPr lang="en-US" sz="8000" cap="all" dirty="0">
                <a:latin typeface="Times New Roman" pitchFamily="18" charset="0"/>
                <a:cs typeface="Times New Roman" pitchFamily="18" charset="0"/>
              </a:rPr>
              <a:t>Research Question</a:t>
            </a:r>
          </a:p>
          <a:p>
            <a:pPr>
              <a:lnSpc>
                <a:spcPct val="170000"/>
              </a:lnSpc>
              <a:buFont typeface="Wingdings" pitchFamily="2" charset="2"/>
              <a:buChar char="q"/>
            </a:pPr>
            <a:r>
              <a:rPr lang="en-US" sz="8000" cap="all" dirty="0">
                <a:latin typeface="Times New Roman" pitchFamily="18" charset="0"/>
                <a:cs typeface="Times New Roman" pitchFamily="18" charset="0"/>
              </a:rPr>
              <a:t>Aim</a:t>
            </a:r>
          </a:p>
          <a:p>
            <a:pPr>
              <a:lnSpc>
                <a:spcPct val="170000"/>
              </a:lnSpc>
              <a:buFont typeface="Wingdings" pitchFamily="2" charset="2"/>
              <a:buChar char="q"/>
            </a:pPr>
            <a:r>
              <a:rPr lang="en-US" sz="8000" cap="all" dirty="0">
                <a:latin typeface="Times New Roman" pitchFamily="18" charset="0"/>
                <a:cs typeface="Times New Roman" pitchFamily="18" charset="0"/>
              </a:rPr>
              <a:t>Objectives</a:t>
            </a:r>
          </a:p>
          <a:p>
            <a:pPr>
              <a:lnSpc>
                <a:spcPct val="170000"/>
              </a:lnSpc>
              <a:buFont typeface="Wingdings" pitchFamily="2" charset="2"/>
              <a:buChar char="q"/>
            </a:pPr>
            <a:r>
              <a:rPr lang="en-US" sz="8000" cap="all" dirty="0">
                <a:latin typeface="Times New Roman" pitchFamily="18" charset="0"/>
                <a:cs typeface="Times New Roman" pitchFamily="18" charset="0"/>
              </a:rPr>
              <a:t>Methodology</a:t>
            </a:r>
          </a:p>
          <a:p>
            <a:pPr>
              <a:lnSpc>
                <a:spcPct val="170000"/>
              </a:lnSpc>
              <a:buFont typeface="Wingdings" pitchFamily="2" charset="2"/>
              <a:buChar char="q"/>
            </a:pPr>
            <a:r>
              <a:rPr lang="en-US" sz="8000" dirty="0">
                <a:latin typeface="Times New Roman" panose="02020603050405020304" pitchFamily="18" charset="0"/>
                <a:cs typeface="Times New Roman" panose="02020603050405020304" pitchFamily="18" charset="0"/>
              </a:rPr>
              <a:t>TARGET OF THE NEXT THREE MONTHS</a:t>
            </a:r>
          </a:p>
          <a:p>
            <a:pPr>
              <a:lnSpc>
                <a:spcPct val="170000"/>
              </a:lnSpc>
              <a:buFont typeface="Wingdings" pitchFamily="2" charset="2"/>
              <a:buChar char="q"/>
            </a:pPr>
            <a:r>
              <a:rPr lang="en-US" sz="8000" cap="all" dirty="0">
                <a:latin typeface="Times New Roman" panose="02020603050405020304" pitchFamily="18" charset="0"/>
                <a:cs typeface="Times New Roman" panose="02020603050405020304" pitchFamily="18" charset="0"/>
              </a:rPr>
              <a:t> REFERENCES</a:t>
            </a:r>
          </a:p>
          <a:p>
            <a:pPr>
              <a:lnSpc>
                <a:spcPct val="200000"/>
              </a:lnSpc>
              <a:buFont typeface="Wingdings" pitchFamily="2" charset="2"/>
              <a:buChar char="q"/>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itle 1">
            <a:extLst>
              <a:ext uri="{FF2B5EF4-FFF2-40B4-BE49-F238E27FC236}">
                <a16:creationId xmlns:a16="http://schemas.microsoft.com/office/drawing/2014/main" id="{973D0C33-9221-09CD-6A6B-31C8C16DA6C1}"/>
              </a:ext>
            </a:extLst>
          </p:cNvPr>
          <p:cNvSpPr>
            <a:spLocks noGrp="1"/>
          </p:cNvSpPr>
          <p:nvPr>
            <p:ph type="title"/>
          </p:nvPr>
        </p:nvSpPr>
        <p:spPr>
          <a:xfrm>
            <a:off x="2133600" y="381000"/>
            <a:ext cx="3962400" cy="609600"/>
          </a:xfrm>
        </p:spPr>
        <p:txBody>
          <a:bodyPr>
            <a:noAutofit/>
          </a:bodyPr>
          <a:lstStyle/>
          <a:p>
            <a:pPr>
              <a:lnSpc>
                <a:spcPct val="150000"/>
              </a:lnSpc>
            </a:pPr>
            <a:r>
              <a:rPr lang="en-US" sz="3200" b="1" dirty="0">
                <a:latin typeface="Times New Roman" pitchFamily="18" charset="0"/>
                <a:cs typeface="Times New Roman" pitchFamily="18" charset="0"/>
              </a:rPr>
              <a:t>CONTENTS</a:t>
            </a:r>
            <a:br>
              <a:rPr lang="en-US" sz="3200"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3585030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39B7105-933A-C4F0-8AD6-71E3E3C387A0}"/>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4</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816B7A76-8F3B-1B63-BA76-DE3146DE687C}"/>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CDDFE0BD-93A8-CBCE-D0C9-828D10C78552}"/>
              </a:ext>
            </a:extLst>
          </p:cNvPr>
          <p:cNvPicPr>
            <a:picLocks noChangeAspect="1"/>
          </p:cNvPicPr>
          <p:nvPr/>
        </p:nvPicPr>
        <p:blipFill>
          <a:blip r:embed="rId3"/>
          <a:stretch>
            <a:fillRect/>
          </a:stretch>
        </p:blipFill>
        <p:spPr>
          <a:xfrm>
            <a:off x="-1" y="6248400"/>
            <a:ext cx="9144001" cy="613831"/>
          </a:xfrm>
          <a:prstGeom prst="rect">
            <a:avLst/>
          </a:prstGeom>
        </p:spPr>
      </p:pic>
      <p:sp>
        <p:nvSpPr>
          <p:cNvPr id="9" name="Title 1">
            <a:extLst>
              <a:ext uri="{FF2B5EF4-FFF2-40B4-BE49-F238E27FC236}">
                <a16:creationId xmlns:a16="http://schemas.microsoft.com/office/drawing/2014/main" id="{5018760B-AF7C-7B97-3F36-3CDD83C8103E}"/>
              </a:ext>
            </a:extLst>
          </p:cNvPr>
          <p:cNvSpPr>
            <a:spLocks noGrp="1"/>
          </p:cNvSpPr>
          <p:nvPr>
            <p:ph type="title"/>
          </p:nvPr>
        </p:nvSpPr>
        <p:spPr>
          <a:xfrm>
            <a:off x="457200" y="228600"/>
            <a:ext cx="8229600" cy="609600"/>
          </a:xfrm>
        </p:spPr>
        <p:txBody>
          <a:bodyPr>
            <a:normAutofit fontScale="90000"/>
          </a:bodyPr>
          <a:lstStyle/>
          <a:p>
            <a:pPr>
              <a:lnSpc>
                <a:spcPct val="150000"/>
              </a:lnSpc>
            </a:pPr>
            <a:r>
              <a:rPr lang="en-US" sz="3200" dirty="0">
                <a:latin typeface="Times New Roman" pitchFamily="18" charset="0"/>
                <a:cs typeface="Times New Roman" pitchFamily="18" charset="0"/>
              </a:rPr>
              <a:t>INTRODUTION </a:t>
            </a:r>
            <a:endParaRPr lang="en-IN" sz="32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30FFFD2-6E1C-74C4-10FC-B5055337D9D4}"/>
              </a:ext>
            </a:extLst>
          </p:cNvPr>
          <p:cNvSpPr txBox="1"/>
          <p:nvPr/>
        </p:nvSpPr>
        <p:spPr>
          <a:xfrm>
            <a:off x="17721" y="816935"/>
            <a:ext cx="9144000" cy="557697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The Data Bottleneck: </a:t>
            </a:r>
            <a:r>
              <a:rPr lang="en-US" sz="2000" dirty="0">
                <a:latin typeface="Times New Roman" panose="02020603050405020304" pitchFamily="18" charset="0"/>
                <a:cs typeface="Times New Roman" panose="02020603050405020304" pitchFamily="18" charset="0"/>
              </a:rPr>
              <a:t>Modern healthcare facilities generate vast amounts of fragmented data, including structured EMR tables, unstructured clinical guidelines, audio recordings, and medical imaging.</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The Privacy Problem: </a:t>
            </a:r>
            <a:r>
              <a:rPr lang="en-US" sz="2000" dirty="0">
                <a:latin typeface="Times New Roman" panose="02020603050405020304" pitchFamily="18" charset="0"/>
                <a:cs typeface="Times New Roman" panose="02020603050405020304" pitchFamily="18" charset="0"/>
              </a:rPr>
              <a:t>Strict medical data privacy regulations (simulating HIPAA compliance) completely prohibit uploading sensitive patient vitals to public cloud AI services (e.g., OpenAI or Google cloud APIs).</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The 'Black Box' Barrier: </a:t>
            </a:r>
            <a:r>
              <a:rPr lang="en-US" sz="2000" dirty="0">
                <a:latin typeface="Times New Roman" panose="02020603050405020304" pitchFamily="18" charset="0"/>
                <a:cs typeface="Times New Roman" panose="02020603050405020304" pitchFamily="18" charset="0"/>
              </a:rPr>
              <a:t>Clinicians heavily distrust predictive machine learning models if the AI cannot explain the exact mathematical reasoning behind its diagnosis.</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The Proposed Solution: </a:t>
            </a:r>
            <a:r>
              <a:rPr lang="en-US" sz="2000" dirty="0">
                <a:latin typeface="Times New Roman" panose="02020603050405020304" pitchFamily="18" charset="0"/>
                <a:cs typeface="Times New Roman" panose="02020603050405020304" pitchFamily="18" charset="0"/>
              </a:rPr>
              <a:t>A fully offline, multi-modal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ecosystem driven entirely by edge-computed AI models (Qwen, Whisper, </a:t>
            </a:r>
            <a:r>
              <a:rPr lang="en-US" sz="2000" dirty="0" err="1">
                <a:latin typeface="Times New Roman" panose="02020603050405020304" pitchFamily="18" charset="0"/>
                <a:cs typeface="Times New Roman" panose="02020603050405020304" pitchFamily="18" charset="0"/>
              </a:rPr>
              <a:t>ViT</a:t>
            </a:r>
            <a:r>
              <a:rPr lang="en-US" sz="2000" dirty="0">
                <a:latin typeface="Times New Roman" panose="02020603050405020304" pitchFamily="18" charset="0"/>
                <a:cs typeface="Times New Roman" panose="02020603050405020304" pitchFamily="18" charset="0"/>
              </a:rPr>
              <a:t>), enabling secure, explainable clinical workflows.</a:t>
            </a:r>
          </a:p>
        </p:txBody>
      </p:sp>
    </p:spTree>
    <p:extLst>
      <p:ext uri="{BB962C8B-B14F-4D97-AF65-F5344CB8AC3E}">
        <p14:creationId xmlns:p14="http://schemas.microsoft.com/office/powerpoint/2010/main" val="4134587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AB181-D309-025F-3794-870571A3FB3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5D1E649-4D05-A427-5A2C-5FA06DE42AD3}"/>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5</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C93115E7-D28D-F9E1-222E-C9776ACC6931}"/>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F745C1F6-4C33-89BE-96CC-77C6C2391676}"/>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1AD8767B-B689-22E1-34AD-A4994C704BB8}"/>
              </a:ext>
            </a:extLst>
          </p:cNvPr>
          <p:cNvSpPr>
            <a:spLocks noGrp="1"/>
          </p:cNvSpPr>
          <p:nvPr>
            <p:ph type="title"/>
          </p:nvPr>
        </p:nvSpPr>
        <p:spPr>
          <a:xfrm>
            <a:off x="457200" y="274638"/>
            <a:ext cx="8229600" cy="582594"/>
          </a:xfrm>
        </p:spPr>
        <p:txBody>
          <a:bodyPr>
            <a:noAutofit/>
          </a:bodyPr>
          <a:lstStyle/>
          <a:p>
            <a:r>
              <a:rPr lang="en-US" sz="2800" dirty="0">
                <a:latin typeface="Times New Roman" pitchFamily="18" charset="0"/>
                <a:cs typeface="Times New Roman" pitchFamily="18" charset="0"/>
              </a:rPr>
              <a:t>LITERATURE SURVEY</a:t>
            </a:r>
            <a:endParaRPr lang="en-US" sz="2800" dirty="0">
              <a:solidFill>
                <a:srgbClr val="FF0000"/>
              </a:solidFill>
              <a:latin typeface="Times New Roman" pitchFamily="18" charset="0"/>
              <a:cs typeface="Times New Roman" pitchFamily="18" charset="0"/>
            </a:endParaRPr>
          </a:p>
        </p:txBody>
      </p:sp>
      <p:graphicFrame>
        <p:nvGraphicFramePr>
          <p:cNvPr id="3" name="Content Placeholder 6">
            <a:extLst>
              <a:ext uri="{FF2B5EF4-FFF2-40B4-BE49-F238E27FC236}">
                <a16:creationId xmlns:a16="http://schemas.microsoft.com/office/drawing/2014/main" id="{E7C07657-8112-68EC-7EE8-5315635456E2}"/>
              </a:ext>
            </a:extLst>
          </p:cNvPr>
          <p:cNvGraphicFramePr>
            <a:graphicFrameLocks/>
          </p:cNvGraphicFramePr>
          <p:nvPr>
            <p:extLst>
              <p:ext uri="{D42A27DB-BD31-4B8C-83A1-F6EECF244321}">
                <p14:modId xmlns:p14="http://schemas.microsoft.com/office/powerpoint/2010/main" val="1012969740"/>
              </p:ext>
            </p:extLst>
          </p:nvPr>
        </p:nvGraphicFramePr>
        <p:xfrm>
          <a:off x="-2" y="914400"/>
          <a:ext cx="9144002" cy="6182810"/>
        </p:xfrm>
        <a:graphic>
          <a:graphicData uri="http://schemas.openxmlformats.org/drawingml/2006/table">
            <a:tbl>
              <a:tblPr firstRow="1" bandRow="1">
                <a:tableStyleId>{5C22544A-7EE6-4342-B048-85BDC9FD1C3A}</a:tableStyleId>
              </a:tblPr>
              <a:tblGrid>
                <a:gridCol w="304802">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236220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tblGrid>
              <a:tr h="567079">
                <a:tc>
                  <a:txBody>
                    <a:bodyPr/>
                    <a:lstStyle/>
                    <a:p>
                      <a:pPr algn="just"/>
                      <a:r>
                        <a:rPr lang="en-US" sz="1600" dirty="0">
                          <a:latin typeface="Times New Roman" panose="02020603050405020304" pitchFamily="18" charset="0"/>
                          <a:cs typeface="Times New Roman" panose="02020603050405020304" pitchFamily="18" charset="0"/>
                        </a:rPr>
                        <a:t>Sr.</a:t>
                      </a:r>
                    </a:p>
                    <a:p>
                      <a:pPr algn="just"/>
                      <a:r>
                        <a:rPr lang="en-US" sz="1600" dirty="0">
                          <a:latin typeface="Times New Roman" panose="02020603050405020304" pitchFamily="18" charset="0"/>
                          <a:cs typeface="Times New Roman" panose="02020603050405020304" pitchFamily="18" charset="0"/>
                        </a:rPr>
                        <a:t>No</a:t>
                      </a:r>
                      <a:endParaRPr lang="en-US" sz="1600" i="0" dirty="0">
                        <a:latin typeface="Times New Roman" pitchFamily="18" charset="0"/>
                        <a:cs typeface="Times New Roman"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Title of the Article,</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Authors</a:t>
                      </a:r>
                      <a:r>
                        <a:rPr lang="en-US" sz="1600" baseline="0" dirty="0">
                          <a:latin typeface="Times New Roman" panose="02020603050405020304" pitchFamily="18" charset="0"/>
                          <a:cs typeface="Times New Roman" panose="02020603050405020304" pitchFamily="18" charset="0"/>
                        </a:rPr>
                        <a:t> and</a:t>
                      </a:r>
                      <a:endParaRPr lang="en-US" sz="1600" dirty="0">
                        <a:latin typeface="Times New Roman" panose="02020603050405020304" pitchFamily="18" charset="0"/>
                        <a:cs typeface="Times New Roman" panose="02020603050405020304"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Year of publication</a:t>
                      </a:r>
                    </a:p>
                  </a:txBody>
                  <a:tcPr/>
                </a:tc>
                <a:tc>
                  <a:txBody>
                    <a:bodyPr/>
                    <a:lstStyle/>
                    <a:p>
                      <a:pPr algn="just"/>
                      <a:r>
                        <a:rPr lang="en-US" sz="1600" dirty="0">
                          <a:latin typeface="Times New Roman" panose="02020603050405020304" pitchFamily="18" charset="0"/>
                          <a:cs typeface="Times New Roman" panose="02020603050405020304" pitchFamily="18" charset="0"/>
                        </a:rPr>
                        <a:t>Focus of Study,</a:t>
                      </a:r>
                      <a:r>
                        <a:rPr lang="en-US" sz="1600" baseline="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Design, Objectives , Method used and Sample size</a:t>
                      </a:r>
                      <a:r>
                        <a:rPr lang="en-US" sz="1600" baseline="0" dirty="0">
                          <a:latin typeface="Times New Roman" panose="02020603050405020304" pitchFamily="18" charset="0"/>
                          <a:cs typeface="Times New Roman" panose="02020603050405020304" pitchFamily="18" charset="0"/>
                        </a:rPr>
                        <a:t> </a:t>
                      </a:r>
                      <a:endParaRPr lang="en-US" sz="1600" i="0" dirty="0">
                        <a:latin typeface="Times New Roman" pitchFamily="18" charset="0"/>
                        <a:cs typeface="Times New Roman"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Findings of the study and</a:t>
                      </a:r>
                      <a:r>
                        <a:rPr lang="en-US" sz="1600" baseline="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conclusions</a:t>
                      </a:r>
                      <a:endParaRPr lang="en-US" sz="1600" i="0" dirty="0">
                        <a:latin typeface="Times New Roman" pitchFamily="18" charset="0"/>
                        <a:cs typeface="Times New Roman"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Remarks of the Scholar</a:t>
                      </a:r>
                      <a:endParaRPr lang="en-US" sz="1600" i="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2180453">
                <a:tc>
                  <a:txBody>
                    <a:bodyPr/>
                    <a:lstStyle/>
                    <a:p>
                      <a:r>
                        <a:rPr lang="en-US" sz="1050" b="0" i="0" dirty="0">
                          <a:solidFill>
                            <a:schemeClr val="tx1"/>
                          </a:solidFill>
                          <a:latin typeface="Times New Roman" pitchFamily="18" charset="0"/>
                          <a:cs typeface="Times New Roman" pitchFamily="18" charset="0"/>
                        </a:rPr>
                        <a:t>1.</a:t>
                      </a:r>
                    </a:p>
                  </a:txBody>
                  <a:tcPr/>
                </a:tc>
                <a:tc>
                  <a:txBody>
                    <a:bodyPr/>
                    <a:lstStyle/>
                    <a:p>
                      <a:pPr algn="just"/>
                      <a:r>
                        <a:rPr lang="en-US" sz="1400" b="1" dirty="0">
                          <a:latin typeface="Times New Roman" panose="02020603050405020304" pitchFamily="18" charset="0"/>
                          <a:cs typeface="Times New Roman" panose="02020603050405020304" pitchFamily="18" charset="0"/>
                        </a:rPr>
                        <a:t>Deep Learning in Glaucoma Detection and Progression Prediction: A Systematic Review and Meta-Analysis</a:t>
                      </a:r>
                    </a:p>
                    <a:p>
                      <a:pPr algn="just"/>
                      <a:endParaRPr lang="en-US" sz="1400" b="1" dirty="0">
                        <a:latin typeface="Times New Roman" panose="02020603050405020304" pitchFamily="18" charset="0"/>
                        <a:cs typeface="Times New Roman" panose="02020603050405020304" pitchFamily="18" charset="0"/>
                      </a:endParaRPr>
                    </a:p>
                    <a:p>
                      <a:pPr algn="just"/>
                      <a:r>
                        <a:rPr lang="en-IN" sz="1400" b="0" dirty="0">
                          <a:latin typeface="Times New Roman" panose="02020603050405020304" pitchFamily="18" charset="0"/>
                          <a:cs typeface="Times New Roman" panose="02020603050405020304" pitchFamily="18" charset="0"/>
                        </a:rPr>
                        <a:t>Ling et al. (2025)</a:t>
                      </a:r>
                      <a:endParaRPr lang="en-US" sz="1400" b="0" dirty="0">
                        <a:latin typeface="Times New Roman" panose="02020603050405020304" pitchFamily="18" charset="0"/>
                        <a:cs typeface="Times New Roman" panose="02020603050405020304"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Focus:</a:t>
                      </a:r>
                      <a:r>
                        <a:rPr lang="en-US" sz="1400" dirty="0">
                          <a:latin typeface="Times New Roman" panose="02020603050405020304" pitchFamily="18" charset="0"/>
                          <a:cs typeface="Times New Roman" panose="02020603050405020304" pitchFamily="18" charset="0"/>
                        </a:rPr>
                        <a:t> Meta-analysis of DL performance in diagnosis and progression.</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Method:</a:t>
                      </a:r>
                      <a:r>
                        <a:rPr lang="en-US" sz="1400" dirty="0">
                          <a:latin typeface="Times New Roman" panose="02020603050405020304" pitchFamily="18" charset="0"/>
                          <a:cs typeface="Times New Roman" panose="02020603050405020304" pitchFamily="18" charset="0"/>
                        </a:rPr>
                        <a:t> Reviewed 48 studies using Fundus &amp; OCT imaging.</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Sample:</a:t>
                      </a:r>
                      <a:r>
                        <a:rPr lang="en-US" sz="1400" dirty="0">
                          <a:latin typeface="Times New Roman" panose="02020603050405020304" pitchFamily="18" charset="0"/>
                          <a:cs typeface="Times New Roman" panose="02020603050405020304" pitchFamily="18" charset="0"/>
                        </a:rPr>
                        <a:t> Aggregated data from &gt;200k fundus and &gt;17k OCT images.</a:t>
                      </a:r>
                    </a:p>
                    <a:p>
                      <a:pPr algn="just"/>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dirty="0">
                          <a:solidFill>
                            <a:schemeClr val="tx1"/>
                          </a:solidFill>
                          <a:latin typeface="Times New Roman" pitchFamily="18" charset="0"/>
                          <a:cs typeface="Times New Roman" pitchFamily="18" charset="0"/>
                        </a:rPr>
                        <a:t>Findings</a:t>
                      </a:r>
                      <a:r>
                        <a:rPr lang="en-US" sz="1400" b="0" i="0" dirty="0">
                          <a:solidFill>
                            <a:schemeClr val="tx1"/>
                          </a:solidFill>
                          <a:latin typeface="Times New Roman" pitchFamily="18" charset="0"/>
                          <a:cs typeface="Times New Roman" pitchFamily="18" charset="0"/>
                        </a:rPr>
                        <a:t>: Fundus imaging achieved Sensitivity of 0.92 and Specificity of 0.93. OCT achieved Sensitivity of 0.90.</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0" i="0" dirty="0">
                        <a:solidFill>
                          <a:schemeClr val="tx1"/>
                        </a:solidFill>
                        <a:latin typeface="Times New Roman" pitchFamily="18" charset="0"/>
                        <a:cs typeface="Times New Roman" pitchFamily="18"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dirty="0">
                          <a:solidFill>
                            <a:schemeClr val="tx1"/>
                          </a:solidFill>
                          <a:latin typeface="Times New Roman" pitchFamily="18" charset="0"/>
                          <a:cs typeface="Times New Roman" pitchFamily="18" charset="0"/>
                        </a:rPr>
                        <a:t>Conclusion</a:t>
                      </a:r>
                      <a:r>
                        <a:rPr lang="en-US" sz="1400" b="0" i="0" dirty="0">
                          <a:solidFill>
                            <a:schemeClr val="tx1"/>
                          </a:solidFill>
                          <a:latin typeface="Times New Roman" pitchFamily="18" charset="0"/>
                          <a:cs typeface="Times New Roman" pitchFamily="18" charset="0"/>
                        </a:rPr>
                        <a:t>: Internal testing showed higher accuracy than external validation</a:t>
                      </a:r>
                    </a:p>
                  </a:txBody>
                  <a:tcPr/>
                </a:tc>
                <a:tc>
                  <a:txBody>
                    <a:bodyPr/>
                    <a:lstStyle/>
                    <a:p>
                      <a:pPr algn="just"/>
                      <a:r>
                        <a:rPr lang="en-US" sz="1400" b="1" i="0" dirty="0">
                          <a:solidFill>
                            <a:schemeClr val="tx1"/>
                          </a:solidFill>
                          <a:latin typeface="Times New Roman" pitchFamily="18" charset="0"/>
                          <a:cs typeface="Times New Roman" pitchFamily="18" charset="0"/>
                        </a:rPr>
                        <a:t>P</a:t>
                      </a:r>
                      <a:r>
                        <a:rPr lang="en-US" sz="1400" b="0" i="0" dirty="0">
                          <a:solidFill>
                            <a:schemeClr val="tx1"/>
                          </a:solidFill>
                          <a:latin typeface="Times New Roman" pitchFamily="18" charset="0"/>
                          <a:cs typeface="Times New Roman" pitchFamily="18" charset="0"/>
                        </a:rPr>
                        <a:t>rovides a strong statistical baseline for my project. Highlights the "Generalizability Gap" in current AI models (performance drops on new external data).</a:t>
                      </a:r>
                    </a:p>
                  </a:txBody>
                  <a:tcPr/>
                </a:tc>
                <a:extLst>
                  <a:ext uri="{0D108BD9-81ED-4DB2-BD59-A6C34878D82A}">
                    <a16:rowId xmlns:a16="http://schemas.microsoft.com/office/drawing/2014/main" val="10001"/>
                  </a:ext>
                </a:extLst>
              </a:tr>
              <a:tr h="2647130">
                <a:tc>
                  <a:txBody>
                    <a:bodyPr/>
                    <a:lstStyle/>
                    <a:p>
                      <a:r>
                        <a:rPr lang="en-US" sz="1050" b="0" i="0" dirty="0">
                          <a:solidFill>
                            <a:schemeClr val="tx1"/>
                          </a:solidFill>
                          <a:latin typeface="Times New Roman" pitchFamily="18" charset="0"/>
                          <a:cs typeface="Times New Roman" pitchFamily="18" charset="0"/>
                        </a:rPr>
                        <a:t>2.</a:t>
                      </a:r>
                    </a:p>
                  </a:txBody>
                  <a:tcPr/>
                </a:tc>
                <a:tc>
                  <a:txBody>
                    <a:bodyPr/>
                    <a:lstStyle/>
                    <a:p>
                      <a:pPr algn="just"/>
                      <a:r>
                        <a:rPr lang="en-US" sz="1400" b="1" dirty="0">
                          <a:latin typeface="Times New Roman" panose="02020603050405020304" pitchFamily="18" charset="0"/>
                          <a:cs typeface="Times New Roman" panose="02020603050405020304" pitchFamily="18" charset="0"/>
                        </a:rPr>
                        <a:t>Equity-enhanced glaucoma progression prediction from OCT with knowledge distillation</a:t>
                      </a:r>
                    </a:p>
                    <a:p>
                      <a:pPr algn="just"/>
                      <a:endParaRPr lang="en-US" sz="1400" b="1" dirty="0">
                        <a:latin typeface="Times New Roman" panose="02020603050405020304" pitchFamily="18" charset="0"/>
                        <a:cs typeface="Times New Roman" panose="02020603050405020304" pitchFamily="18" charset="0"/>
                      </a:endParaRPr>
                    </a:p>
                    <a:p>
                      <a:pPr algn="just"/>
                      <a:r>
                        <a:rPr lang="en-US" sz="1400" b="0" dirty="0">
                          <a:latin typeface="Times New Roman" panose="02020603050405020304" pitchFamily="18" charset="0"/>
                          <a:cs typeface="Times New Roman" panose="02020603050405020304" pitchFamily="18" charset="0"/>
                        </a:rPr>
                        <a:t>Afolabi et al. (2025)</a:t>
                      </a:r>
                    </a:p>
                  </a:txBody>
                  <a:tcPr/>
                </a:tc>
                <a:tc>
                  <a:txBody>
                    <a:bodyPr/>
                    <a:lstStyle/>
                    <a:p>
                      <a:pPr algn="just"/>
                      <a:r>
                        <a:rPr lang="en-US" sz="1400" b="1" dirty="0">
                          <a:latin typeface="Times New Roman" panose="02020603050405020304" pitchFamily="18" charset="0"/>
                          <a:cs typeface="Times New Roman" panose="02020603050405020304" pitchFamily="18" charset="0"/>
                        </a:rPr>
                        <a:t>Focus: </a:t>
                      </a:r>
                      <a:r>
                        <a:rPr lang="en-US" sz="1400" dirty="0">
                          <a:latin typeface="Times New Roman" panose="02020603050405020304" pitchFamily="18" charset="0"/>
                          <a:cs typeface="Times New Roman" panose="02020603050405020304" pitchFamily="18" charset="0"/>
                        </a:rPr>
                        <a:t>Addressing algorithmic bias and data scarcity in progression prediction.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Method: </a:t>
                      </a:r>
                      <a:r>
                        <a:rPr lang="en-US" sz="1400" dirty="0">
                          <a:latin typeface="Times New Roman" panose="02020603050405020304" pitchFamily="18" charset="0"/>
                          <a:cs typeface="Times New Roman" panose="02020603050405020304" pitchFamily="18" charset="0"/>
                        </a:rPr>
                        <a:t>Proposed "</a:t>
                      </a:r>
                      <a:r>
                        <a:rPr lang="en-US" sz="1400" dirty="0" err="1">
                          <a:latin typeface="Times New Roman" panose="02020603050405020304" pitchFamily="18" charset="0"/>
                          <a:cs typeface="Times New Roman" panose="02020603050405020304" pitchFamily="18" charset="0"/>
                        </a:rPr>
                        <a:t>FairDist</a:t>
                      </a:r>
                      <a:r>
                        <a:rPr lang="en-US" sz="1400" dirty="0">
                          <a:latin typeface="Times New Roman" panose="02020603050405020304" pitchFamily="18" charset="0"/>
                          <a:cs typeface="Times New Roman" panose="02020603050405020304" pitchFamily="18" charset="0"/>
                        </a:rPr>
                        <a:t>" model using </a:t>
                      </a:r>
                      <a:r>
                        <a:rPr lang="en-US" sz="1400" dirty="0" err="1">
                          <a:latin typeface="Times New Roman" panose="02020603050405020304" pitchFamily="18" charset="0"/>
                          <a:cs typeface="Times New Roman" panose="02020603050405020304" pitchFamily="18" charset="0"/>
                        </a:rPr>
                        <a:t>EfficientNet</a:t>
                      </a:r>
                      <a:r>
                        <a:rPr lang="en-US" sz="1400" dirty="0">
                          <a:latin typeface="Times New Roman" panose="02020603050405020304" pitchFamily="18" charset="0"/>
                          <a:cs typeface="Times New Roman" panose="02020603050405020304" pitchFamily="18" charset="0"/>
                        </a:rPr>
                        <a:t>, Equity-Aware Attention, and Knowledge Distillation.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Sample: </a:t>
                      </a:r>
                      <a:r>
                        <a:rPr lang="en-US" sz="1400" dirty="0">
                          <a:latin typeface="Times New Roman" panose="02020603050405020304" pitchFamily="18" charset="0"/>
                          <a:cs typeface="Times New Roman" panose="02020603050405020304" pitchFamily="18" charset="0"/>
                        </a:rPr>
                        <a:t>10,000 eyes (Detection), 500 eyes (Progression).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dirty="0">
                          <a:solidFill>
                            <a:schemeClr val="tx1"/>
                          </a:solidFill>
                          <a:latin typeface="Times New Roman" pitchFamily="18" charset="0"/>
                          <a:cs typeface="Times New Roman" pitchFamily="18" charset="0"/>
                        </a:rPr>
                        <a:t>Findings</a:t>
                      </a:r>
                      <a:r>
                        <a:rPr lang="en-US" sz="1400" b="0" i="0" dirty="0">
                          <a:solidFill>
                            <a:schemeClr val="tx1"/>
                          </a:solidFill>
                          <a:latin typeface="Times New Roman" pitchFamily="18" charset="0"/>
                          <a:cs typeface="Times New Roman" pitchFamily="18" charset="0"/>
                        </a:rPr>
                        <a:t>: </a:t>
                      </a:r>
                      <a:r>
                        <a:rPr lang="en-US" sz="1400" b="0" i="0" dirty="0" err="1">
                          <a:solidFill>
                            <a:schemeClr val="tx1"/>
                          </a:solidFill>
                          <a:latin typeface="Times New Roman" pitchFamily="18" charset="0"/>
                          <a:cs typeface="Times New Roman" pitchFamily="18" charset="0"/>
                        </a:rPr>
                        <a:t>FairDist</a:t>
                      </a:r>
                      <a:r>
                        <a:rPr lang="en-US" sz="1400" b="0" i="0" dirty="0">
                          <a:solidFill>
                            <a:schemeClr val="tx1"/>
                          </a:solidFill>
                          <a:latin typeface="Times New Roman" pitchFamily="18" charset="0"/>
                          <a:cs typeface="Times New Roman" pitchFamily="18" charset="0"/>
                        </a:rPr>
                        <a:t> achieved the highest AUC (0.78) for rapid progression and significantly improved accuracy for Black and Asian subgroups compared to standard </a:t>
                      </a:r>
                      <a:r>
                        <a:rPr lang="en-US" sz="1400" b="0" i="0" dirty="0" err="1">
                          <a:solidFill>
                            <a:schemeClr val="tx1"/>
                          </a:solidFill>
                          <a:latin typeface="Times New Roman" pitchFamily="18" charset="0"/>
                          <a:cs typeface="Times New Roman" pitchFamily="18" charset="0"/>
                        </a:rPr>
                        <a:t>ResNet</a:t>
                      </a:r>
                      <a:r>
                        <a:rPr lang="en-US" sz="1400" b="0" i="0" dirty="0">
                          <a:solidFill>
                            <a:schemeClr val="tx1"/>
                          </a:solidFill>
                          <a:latin typeface="Times New Roman" pitchFamily="18" charset="0"/>
                          <a:cs typeface="Times New Roman" pitchFamily="18" charset="0"/>
                        </a:rPr>
                        <a:t> .</a:t>
                      </a:r>
                    </a:p>
                  </a:txBody>
                  <a:tcPr/>
                </a:tc>
                <a:tc>
                  <a:txBody>
                    <a:bodyPr/>
                    <a:lstStyle/>
                    <a:p>
                      <a:pPr algn="just"/>
                      <a:r>
                        <a:rPr lang="en-US" sz="1400" b="0" i="0" dirty="0">
                          <a:solidFill>
                            <a:schemeClr val="tx1"/>
                          </a:solidFill>
                          <a:latin typeface="Times New Roman" pitchFamily="18" charset="0"/>
                          <a:cs typeface="Times New Roman" pitchFamily="18" charset="0"/>
                        </a:rPr>
                        <a:t>Validates the use of Knowledge Distillation to transfer learning from large detection datasets to smaller progression datasets, a key technique for my methodology.</a:t>
                      </a:r>
                    </a:p>
                  </a:txBody>
                  <a:tcPr/>
                </a:tc>
                <a:extLst>
                  <a:ext uri="{0D108BD9-81ED-4DB2-BD59-A6C34878D82A}">
                    <a16:rowId xmlns:a16="http://schemas.microsoft.com/office/drawing/2014/main" val="3717730795"/>
                  </a:ext>
                </a:extLst>
              </a:tr>
            </a:tbl>
          </a:graphicData>
        </a:graphic>
      </p:graphicFrame>
    </p:spTree>
    <p:extLst>
      <p:ext uri="{BB962C8B-B14F-4D97-AF65-F5344CB8AC3E}">
        <p14:creationId xmlns:p14="http://schemas.microsoft.com/office/powerpoint/2010/main" val="1041089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07BA8-55EE-8184-214F-94FBADC79E8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CA99B29-4669-EE17-4C01-55412A27CABE}"/>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6</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F565D230-B8D5-B3A3-707C-F2E71A76D868}"/>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BC8FB532-C5E4-2D78-88D5-9647F6BFEC05}"/>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4D737AC7-797F-9BE0-DA32-C6E7BDD014F3}"/>
              </a:ext>
            </a:extLst>
          </p:cNvPr>
          <p:cNvSpPr>
            <a:spLocks noGrp="1"/>
          </p:cNvSpPr>
          <p:nvPr>
            <p:ph type="title"/>
          </p:nvPr>
        </p:nvSpPr>
        <p:spPr>
          <a:xfrm>
            <a:off x="457200" y="274638"/>
            <a:ext cx="8229600" cy="582594"/>
          </a:xfrm>
        </p:spPr>
        <p:txBody>
          <a:bodyPr>
            <a:noAutofit/>
          </a:bodyPr>
          <a:lstStyle/>
          <a:p>
            <a:r>
              <a:rPr lang="en-US" sz="2800" dirty="0">
                <a:latin typeface="Times New Roman" pitchFamily="18" charset="0"/>
                <a:cs typeface="Times New Roman" pitchFamily="18" charset="0"/>
              </a:rPr>
              <a:t>LITERATURE SURVEY</a:t>
            </a:r>
            <a:endParaRPr lang="en-US" sz="2800" dirty="0">
              <a:solidFill>
                <a:srgbClr val="FF0000"/>
              </a:solidFill>
              <a:latin typeface="Times New Roman" pitchFamily="18" charset="0"/>
              <a:cs typeface="Times New Roman" pitchFamily="18" charset="0"/>
            </a:endParaRPr>
          </a:p>
        </p:txBody>
      </p:sp>
      <p:graphicFrame>
        <p:nvGraphicFramePr>
          <p:cNvPr id="3" name="Content Placeholder 6">
            <a:extLst>
              <a:ext uri="{FF2B5EF4-FFF2-40B4-BE49-F238E27FC236}">
                <a16:creationId xmlns:a16="http://schemas.microsoft.com/office/drawing/2014/main" id="{F7F7AF2B-EAA1-B768-84E4-54B97F270988}"/>
              </a:ext>
            </a:extLst>
          </p:cNvPr>
          <p:cNvGraphicFramePr>
            <a:graphicFrameLocks/>
          </p:cNvGraphicFramePr>
          <p:nvPr>
            <p:extLst>
              <p:ext uri="{D42A27DB-BD31-4B8C-83A1-F6EECF244321}">
                <p14:modId xmlns:p14="http://schemas.microsoft.com/office/powerpoint/2010/main" val="4269695043"/>
              </p:ext>
            </p:extLst>
          </p:nvPr>
        </p:nvGraphicFramePr>
        <p:xfrm>
          <a:off x="-1" y="857232"/>
          <a:ext cx="9144001" cy="5974080"/>
        </p:xfrm>
        <a:graphic>
          <a:graphicData uri="http://schemas.openxmlformats.org/drawingml/2006/table">
            <a:tbl>
              <a:tblPr firstRow="1" bandRow="1">
                <a:tableStyleId>{5C22544A-7EE6-4342-B048-85BDC9FD1C3A}</a:tableStyleId>
              </a:tblPr>
              <a:tblGrid>
                <a:gridCol w="381001">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07256">
                  <a:extLst>
                    <a:ext uri="{9D8B030D-6E8A-4147-A177-3AD203B41FA5}">
                      <a16:colId xmlns:a16="http://schemas.microsoft.com/office/drawing/2014/main" val="20002"/>
                    </a:ext>
                  </a:extLst>
                </a:gridCol>
                <a:gridCol w="2156604">
                  <a:extLst>
                    <a:ext uri="{9D8B030D-6E8A-4147-A177-3AD203B41FA5}">
                      <a16:colId xmlns:a16="http://schemas.microsoft.com/office/drawing/2014/main" val="20003"/>
                    </a:ext>
                  </a:extLst>
                </a:gridCol>
                <a:gridCol w="2070340">
                  <a:extLst>
                    <a:ext uri="{9D8B030D-6E8A-4147-A177-3AD203B41FA5}">
                      <a16:colId xmlns:a16="http://schemas.microsoft.com/office/drawing/2014/main" val="20004"/>
                    </a:ext>
                  </a:extLst>
                </a:gridCol>
              </a:tblGrid>
              <a:tr h="1133485">
                <a:tc>
                  <a:txBody>
                    <a:bodyPr/>
                    <a:lstStyle/>
                    <a:p>
                      <a:pPr algn="just"/>
                      <a:r>
                        <a:rPr lang="en-US" sz="1600" i="0" dirty="0">
                          <a:latin typeface="Times New Roman" pitchFamily="18" charset="0"/>
                          <a:cs typeface="Times New Roman" pitchFamily="18" charset="0"/>
                        </a:rPr>
                        <a:t>Sr.</a:t>
                      </a:r>
                    </a:p>
                    <a:p>
                      <a:pPr algn="just"/>
                      <a:r>
                        <a:rPr lang="en-US" sz="1600" i="0" dirty="0">
                          <a:latin typeface="Times New Roman" pitchFamily="18" charset="0"/>
                          <a:cs typeface="Times New Roman" pitchFamily="18" charset="0"/>
                        </a:rPr>
                        <a:t>No</a:t>
                      </a:r>
                    </a:p>
                  </a:txBody>
                  <a:tcPr/>
                </a:tc>
                <a:tc>
                  <a:txBody>
                    <a:bodyPr/>
                    <a:lstStyle/>
                    <a:p>
                      <a:pPr algn="just"/>
                      <a:r>
                        <a:rPr lang="en-US" sz="1600" i="0" dirty="0">
                          <a:latin typeface="Times New Roman" pitchFamily="18" charset="0"/>
                          <a:cs typeface="Times New Roman" pitchFamily="18" charset="0"/>
                        </a:rPr>
                        <a:t>Title of the Article,</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itchFamily="18" charset="0"/>
                          <a:cs typeface="Times New Roman" pitchFamily="18" charset="0"/>
                        </a:rPr>
                        <a:t>Authors</a:t>
                      </a:r>
                      <a:r>
                        <a:rPr lang="en-US" sz="1600" i="0" baseline="0" dirty="0">
                          <a:latin typeface="Times New Roman" pitchFamily="18" charset="0"/>
                          <a:cs typeface="Times New Roman" pitchFamily="18" charset="0"/>
                        </a:rPr>
                        <a:t> and</a:t>
                      </a:r>
                      <a:endParaRPr lang="en-US" sz="1600" i="0" dirty="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itchFamily="18" charset="0"/>
                          <a:cs typeface="Times New Roman" pitchFamily="18" charset="0"/>
                        </a:rPr>
                        <a:t>Year of publication</a:t>
                      </a:r>
                    </a:p>
                    <a:p>
                      <a:pPr algn="just"/>
                      <a:endParaRPr lang="en-US" sz="1600" i="0" dirty="0">
                        <a:latin typeface="Times New Roman" pitchFamily="18" charset="0"/>
                        <a:cs typeface="Times New Roman" pitchFamily="18" charset="0"/>
                      </a:endParaRPr>
                    </a:p>
                  </a:txBody>
                  <a:tcPr/>
                </a:tc>
                <a:tc>
                  <a:txBody>
                    <a:bodyPr/>
                    <a:lstStyle/>
                    <a:p>
                      <a:pPr algn="just"/>
                      <a:r>
                        <a:rPr lang="en-US" sz="1600" i="0" dirty="0">
                          <a:latin typeface="Times New Roman" pitchFamily="18" charset="0"/>
                          <a:cs typeface="Times New Roman" pitchFamily="18" charset="0"/>
                        </a:rPr>
                        <a:t>Focus of Study,</a:t>
                      </a:r>
                      <a:r>
                        <a:rPr lang="en-US" sz="1600" i="0" baseline="0" dirty="0">
                          <a:latin typeface="Times New Roman" pitchFamily="18" charset="0"/>
                          <a:cs typeface="Times New Roman" pitchFamily="18" charset="0"/>
                        </a:rPr>
                        <a:t> </a:t>
                      </a:r>
                      <a:r>
                        <a:rPr lang="en-US" sz="1600" i="0" dirty="0">
                          <a:latin typeface="Times New Roman" pitchFamily="18" charset="0"/>
                          <a:cs typeface="Times New Roman" pitchFamily="18" charset="0"/>
                        </a:rPr>
                        <a:t>Design, Objectives , Method used and Sample size</a:t>
                      </a:r>
                      <a:r>
                        <a:rPr lang="en-US" sz="1600" i="0" baseline="0" dirty="0">
                          <a:latin typeface="Times New Roman" pitchFamily="18" charset="0"/>
                          <a:cs typeface="Times New Roman" pitchFamily="18" charset="0"/>
                        </a:rPr>
                        <a:t> </a:t>
                      </a:r>
                      <a:endParaRPr lang="en-US" sz="1600" i="0" dirty="0">
                        <a:latin typeface="Times New Roman" pitchFamily="18" charset="0"/>
                        <a:cs typeface="Times New Roman" pitchFamily="18" charset="0"/>
                      </a:endParaRPr>
                    </a:p>
                  </a:txBody>
                  <a:tcPr/>
                </a:tc>
                <a:tc>
                  <a:txBody>
                    <a:bodyPr/>
                    <a:lstStyle/>
                    <a:p>
                      <a:pPr algn="just"/>
                      <a:r>
                        <a:rPr lang="en-US" sz="1600" i="0" dirty="0">
                          <a:latin typeface="Times New Roman" pitchFamily="18" charset="0"/>
                          <a:cs typeface="Times New Roman" pitchFamily="18" charset="0"/>
                        </a:rPr>
                        <a:t>Findings of the study and</a:t>
                      </a:r>
                      <a:r>
                        <a:rPr lang="en-US" sz="1600" i="0" baseline="0" dirty="0">
                          <a:latin typeface="Times New Roman" pitchFamily="18" charset="0"/>
                          <a:cs typeface="Times New Roman" pitchFamily="18" charset="0"/>
                        </a:rPr>
                        <a:t> </a:t>
                      </a:r>
                      <a:r>
                        <a:rPr lang="en-US" sz="1600" i="0" dirty="0">
                          <a:latin typeface="Times New Roman" pitchFamily="18" charset="0"/>
                          <a:cs typeface="Times New Roman" pitchFamily="18" charset="0"/>
                        </a:rPr>
                        <a:t>conclusions</a:t>
                      </a:r>
                    </a:p>
                  </a:txBody>
                  <a:tcPr/>
                </a:tc>
                <a:tc>
                  <a:txBody>
                    <a:bodyPr/>
                    <a:lstStyle/>
                    <a:p>
                      <a:pPr algn="just"/>
                      <a:r>
                        <a:rPr lang="en-US" sz="1600" i="0" dirty="0">
                          <a:latin typeface="Times New Roman" pitchFamily="18" charset="0"/>
                          <a:cs typeface="Times New Roman" pitchFamily="18" charset="0"/>
                        </a:rPr>
                        <a:t>Remarks of the Scholar</a:t>
                      </a:r>
                    </a:p>
                  </a:txBody>
                  <a:tcPr/>
                </a:tc>
                <a:extLst>
                  <a:ext uri="{0D108BD9-81ED-4DB2-BD59-A6C34878D82A}">
                    <a16:rowId xmlns:a16="http://schemas.microsoft.com/office/drawing/2014/main" val="10000"/>
                  </a:ext>
                </a:extLst>
              </a:tr>
              <a:tr h="1133485">
                <a:tc>
                  <a:txBody>
                    <a:bodyPr/>
                    <a:lstStyle/>
                    <a:p>
                      <a:pPr algn="just"/>
                      <a:r>
                        <a:rPr lang="en-US" sz="1400" i="0" dirty="0">
                          <a:latin typeface="Times New Roman" pitchFamily="18" charset="0"/>
                          <a:cs typeface="Times New Roman" pitchFamily="18" charset="0"/>
                        </a:rPr>
                        <a:t>3.</a:t>
                      </a:r>
                    </a:p>
                  </a:txBody>
                  <a:tcPr/>
                </a:tc>
                <a:tc>
                  <a:txBody>
                    <a:bodyPr/>
                    <a:lstStyle/>
                    <a:p>
                      <a:pPr algn="just"/>
                      <a:r>
                        <a:rPr lang="en-US" sz="1400" b="1" dirty="0">
                          <a:latin typeface="Times New Roman" panose="02020603050405020304" pitchFamily="18" charset="0"/>
                          <a:cs typeface="Times New Roman" panose="02020603050405020304" pitchFamily="18" charset="0"/>
                        </a:rPr>
                        <a:t>Deep Learning Approach Predicts Longitudinal Retinal Nerve Fiber Layer Thickness Changes</a:t>
                      </a:r>
                      <a:endParaRPr lang="en-US" sz="1400" dirty="0">
                        <a:latin typeface="Times New Roman" panose="02020603050405020304" pitchFamily="18" charset="0"/>
                        <a:cs typeface="Times New Roman" panose="02020603050405020304" pitchFamily="18" charset="0"/>
                      </a:endParaRPr>
                    </a:p>
                    <a:p>
                      <a:pPr algn="just"/>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Jalili et al. (2025)</a:t>
                      </a:r>
                    </a:p>
                    <a:p>
                      <a:pPr algn="just"/>
                      <a:endParaRPr lang="en-US" sz="1400" i="0" dirty="0">
                        <a:latin typeface="Times New Roman" pitchFamily="18" charset="0"/>
                        <a:cs typeface="Times New Roman"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Focus:</a:t>
                      </a:r>
                      <a:r>
                        <a:rPr lang="en-US" sz="1400" dirty="0">
                          <a:latin typeface="Times New Roman" panose="02020603050405020304" pitchFamily="18" charset="0"/>
                          <a:cs typeface="Times New Roman" panose="02020603050405020304" pitchFamily="18" charset="0"/>
                        </a:rPr>
                        <a:t> Predicting future RNFL thickness changes (structural progression).</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Method:</a:t>
                      </a:r>
                      <a:r>
                        <a:rPr lang="en-US" sz="1400" dirty="0">
                          <a:latin typeface="Times New Roman" panose="02020603050405020304" pitchFamily="18" charset="0"/>
                          <a:cs typeface="Times New Roman" panose="02020603050405020304" pitchFamily="18" charset="0"/>
                        </a:rPr>
                        <a:t> Developed a custom 1D-CNN vs. Linear Regression.</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Sample:</a:t>
                      </a:r>
                      <a:r>
                        <a:rPr lang="en-US" sz="1400" dirty="0">
                          <a:latin typeface="Times New Roman" panose="02020603050405020304" pitchFamily="18" charset="0"/>
                          <a:cs typeface="Times New Roman" panose="02020603050405020304" pitchFamily="18" charset="0"/>
                        </a:rPr>
                        <a:t> Longitudinal data from 437 eyes (251 participants).</a:t>
                      </a:r>
                    </a:p>
                    <a:p>
                      <a:pPr algn="just"/>
                      <a:endParaRPr lang="en-US" sz="1400" i="0" dirty="0">
                        <a:latin typeface="Times New Roman" pitchFamily="18" charset="0"/>
                        <a:cs typeface="Times New Roman" pitchFamily="18" charset="0"/>
                      </a:endParaRPr>
                    </a:p>
                  </a:txBody>
                  <a:tcPr/>
                </a:tc>
                <a:tc>
                  <a:txBody>
                    <a:bodyPr/>
                    <a:lstStyle/>
                    <a:p>
                      <a:pPr algn="just"/>
                      <a:r>
                        <a:rPr lang="en-US" sz="1400" b="1" kern="1200" dirty="0">
                          <a:solidFill>
                            <a:schemeClr val="dk1"/>
                          </a:solidFill>
                          <a:effectLst/>
                          <a:latin typeface="Times New Roman" panose="02020603050405020304" pitchFamily="18" charset="0"/>
                          <a:ea typeface="+mn-ea"/>
                          <a:cs typeface="Times New Roman" panose="02020603050405020304" pitchFamily="18" charset="0"/>
                        </a:rPr>
                        <a:t>Findings:</a:t>
                      </a:r>
                      <a:r>
                        <a:rPr lang="en-US" sz="1400" kern="1200" dirty="0">
                          <a:solidFill>
                            <a:schemeClr val="dk1"/>
                          </a:solidFill>
                          <a:effectLst/>
                          <a:latin typeface="Times New Roman" panose="02020603050405020304" pitchFamily="18" charset="0"/>
                          <a:ea typeface="+mn-ea"/>
                          <a:cs typeface="Times New Roman" panose="02020603050405020304" pitchFamily="18" charset="0"/>
                        </a:rPr>
                        <a:t> Custom 1D-CNN outperformed traditional regression with an $R^2$ of 0.94-0.98 and Mean Absolute Error of just 2.0-4.2 µm </a:t>
                      </a:r>
                      <a:r>
                        <a:rPr lang="en-US" sz="1400" kern="1200" baseline="30000" dirty="0">
                          <a:solidFill>
                            <a:schemeClr val="dk1"/>
                          </a:solidFill>
                          <a:effectLst/>
                          <a:latin typeface="Times New Roman" panose="02020603050405020304" pitchFamily="18" charset="0"/>
                          <a:ea typeface="+mn-ea"/>
                          <a:cs typeface="Times New Roman" panose="02020603050405020304" pitchFamily="18" charset="0"/>
                        </a:rPr>
                        <a:t>3</a:t>
                      </a:r>
                      <a:r>
                        <a:rPr lang="en-US" sz="1400" kern="1200" dirty="0">
                          <a:solidFill>
                            <a:schemeClr val="dk1"/>
                          </a:solidFill>
                          <a:effectLst/>
                          <a:latin typeface="Times New Roman" panose="02020603050405020304" pitchFamily="18" charset="0"/>
                          <a:ea typeface="+mn-ea"/>
                          <a:cs typeface="Times New Roman" panose="02020603050405020304" pitchFamily="18" charset="0"/>
                        </a:rPr>
                        <a:t>.</a:t>
                      </a:r>
                    </a:p>
                  </a:txBody>
                  <a:tcPr/>
                </a:tc>
                <a:tc>
                  <a:txBody>
                    <a:bodyPr/>
                    <a:lstStyle/>
                    <a:p>
                      <a:pPr algn="just"/>
                      <a:r>
                        <a:rPr lang="en-US" sz="1400" dirty="0">
                          <a:latin typeface="Times New Roman" panose="02020603050405020304" pitchFamily="18" charset="0"/>
                          <a:cs typeface="Times New Roman" panose="02020603050405020304" pitchFamily="18" charset="0"/>
                        </a:rPr>
                        <a:t>Proves that CNNs can accurately forecast continuous structural variables (thickness), not just binary classification (Healthy vs. Glaucoma).</a:t>
                      </a:r>
                      <a:endParaRPr lang="en-US" sz="1400" i="0" dirty="0">
                        <a:latin typeface="Times New Roman" pitchFamily="18" charset="0"/>
                        <a:cs typeface="Times New Roman" pitchFamily="18" charset="0"/>
                      </a:endParaRPr>
                    </a:p>
                  </a:txBody>
                  <a:tcPr/>
                </a:tc>
                <a:extLst>
                  <a:ext uri="{0D108BD9-81ED-4DB2-BD59-A6C34878D82A}">
                    <a16:rowId xmlns:a16="http://schemas.microsoft.com/office/drawing/2014/main" val="1206687222"/>
                  </a:ext>
                </a:extLst>
              </a:tr>
              <a:tr h="1133485">
                <a:tc>
                  <a:txBody>
                    <a:bodyPr/>
                    <a:lstStyle/>
                    <a:p>
                      <a:pPr algn="just"/>
                      <a:r>
                        <a:rPr lang="en-US" sz="1400" i="0" dirty="0">
                          <a:latin typeface="Times New Roman" pitchFamily="18" charset="0"/>
                          <a:cs typeface="Times New Roman" pitchFamily="18" charset="0"/>
                        </a:rPr>
                        <a:t>4.</a:t>
                      </a:r>
                    </a:p>
                  </a:txBody>
                  <a:tcPr/>
                </a:tc>
                <a:tc>
                  <a:txBody>
                    <a:bodyPr/>
                    <a:lstStyle/>
                    <a:p>
                      <a:pPr algn="just"/>
                      <a:r>
                        <a:rPr lang="en-US" sz="1400" b="1" dirty="0">
                          <a:latin typeface="Times New Roman" panose="02020603050405020304" pitchFamily="18" charset="0"/>
                          <a:cs typeface="Times New Roman" panose="02020603050405020304" pitchFamily="18" charset="0"/>
                        </a:rPr>
                        <a:t>Artificial Intelligence in Glaucoma: Advances in Diagnosis... and Surgical Outcome Prediction</a:t>
                      </a:r>
                      <a:endParaRPr lang="en-US" sz="1400" dirty="0">
                        <a:latin typeface="Times New Roman" panose="02020603050405020304" pitchFamily="18" charset="0"/>
                        <a:cs typeface="Times New Roman" panose="02020603050405020304" pitchFamily="18" charset="0"/>
                      </a:endParaRPr>
                    </a:p>
                    <a:p>
                      <a:pPr algn="just"/>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Lan et al. (2025)</a:t>
                      </a:r>
                    </a:p>
                    <a:p>
                      <a:pPr algn="just"/>
                      <a:endParaRPr lang="en-US" sz="1400" i="0" dirty="0">
                        <a:latin typeface="Times New Roman" pitchFamily="18" charset="0"/>
                        <a:cs typeface="Times New Roman"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Focus:</a:t>
                      </a:r>
                      <a:r>
                        <a:rPr lang="en-US" sz="1400" dirty="0">
                          <a:latin typeface="Times New Roman" panose="02020603050405020304" pitchFamily="18" charset="0"/>
                          <a:cs typeface="Times New Roman" panose="02020603050405020304" pitchFamily="18" charset="0"/>
                        </a:rPr>
                        <a:t> Comprehensive review of AI in diagnosis, progression, and surgical outcomes.</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Method:</a:t>
                      </a:r>
                      <a:r>
                        <a:rPr lang="en-US" sz="1400" dirty="0">
                          <a:latin typeface="Times New Roman" panose="02020603050405020304" pitchFamily="18" charset="0"/>
                          <a:cs typeface="Times New Roman" panose="02020603050405020304" pitchFamily="18" charset="0"/>
                        </a:rPr>
                        <a:t> Qualitative review of deep learning, ML, and multi-modal models.</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Sample:</a:t>
                      </a:r>
                      <a:r>
                        <a:rPr lang="en-US" sz="1400" dirty="0">
                          <a:latin typeface="Times New Roman" panose="02020603050405020304" pitchFamily="18" charset="0"/>
                          <a:cs typeface="Times New Roman" panose="02020603050405020304" pitchFamily="18" charset="0"/>
                        </a:rPr>
                        <a:t> Reviewed diverse studies on OCT, Fundus, and Omics data.</a:t>
                      </a:r>
                    </a:p>
                    <a:p>
                      <a:pPr algn="just"/>
                      <a:endParaRPr lang="en-US" sz="1400" i="0" dirty="0">
                        <a:latin typeface="Times New Roman" pitchFamily="18" charset="0"/>
                        <a:cs typeface="Times New Roman"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Findings:</a:t>
                      </a:r>
                      <a:r>
                        <a:rPr lang="en-US" sz="1400" dirty="0">
                          <a:latin typeface="Times New Roman" panose="02020603050405020304" pitchFamily="18" charset="0"/>
                          <a:cs typeface="Times New Roman" panose="02020603050405020304" pitchFamily="18" charset="0"/>
                        </a:rPr>
                        <a:t> AI can detect subtle changes beyond human observation. Identified "Interpretability" (Black Box nature) and "Data Heterogeneity" as major remaining challenges.</a:t>
                      </a:r>
                      <a:endParaRPr lang="en-US" sz="1400" i="0" dirty="0">
                        <a:latin typeface="Times New Roman" pitchFamily="18" charset="0"/>
                        <a:cs typeface="Times New Roman"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Helps define the "Problem Statement" regarding the lack of explainability in AI, suggesting we should focus on interpretable models.</a:t>
                      </a:r>
                      <a:endParaRPr lang="en-US" sz="1400" i="0" dirty="0">
                        <a:latin typeface="Times New Roman" pitchFamily="18" charset="0"/>
                        <a:cs typeface="Times New Roman" pitchFamily="18" charset="0"/>
                      </a:endParaRPr>
                    </a:p>
                  </a:txBody>
                  <a:tcPr/>
                </a:tc>
                <a:extLst>
                  <a:ext uri="{0D108BD9-81ED-4DB2-BD59-A6C34878D82A}">
                    <a16:rowId xmlns:a16="http://schemas.microsoft.com/office/drawing/2014/main" val="3705659318"/>
                  </a:ext>
                </a:extLst>
              </a:tr>
            </a:tbl>
          </a:graphicData>
        </a:graphic>
      </p:graphicFrame>
    </p:spTree>
    <p:extLst>
      <p:ext uri="{BB962C8B-B14F-4D97-AF65-F5344CB8AC3E}">
        <p14:creationId xmlns:p14="http://schemas.microsoft.com/office/powerpoint/2010/main" val="1054329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F640C-73FD-1BD1-39BF-7D224C8C87D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985A2C0-3151-834C-66E2-9DA6CB369CF1}"/>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7</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6FD906FC-7FC3-9DB5-3305-4BE233F93AAE}"/>
              </a:ext>
            </a:extLst>
          </p:cNvPr>
          <p:cNvPicPr>
            <a:picLocks noChangeAspect="1"/>
          </p:cNvPicPr>
          <p:nvPr/>
        </p:nvPicPr>
        <p:blipFill>
          <a:blip r:embed="rId2"/>
          <a:stretch>
            <a:fillRect/>
          </a:stretch>
        </p:blipFill>
        <p:spPr>
          <a:xfrm>
            <a:off x="9831" y="0"/>
            <a:ext cx="1042988" cy="1221786"/>
          </a:xfrm>
          <a:prstGeom prst="rect">
            <a:avLst/>
          </a:prstGeom>
        </p:spPr>
      </p:pic>
      <p:pic>
        <p:nvPicPr>
          <p:cNvPr id="8" name="Picture 7">
            <a:extLst>
              <a:ext uri="{FF2B5EF4-FFF2-40B4-BE49-F238E27FC236}">
                <a16:creationId xmlns:a16="http://schemas.microsoft.com/office/drawing/2014/main" id="{958B20A4-88E4-7572-1D58-8CF7F316A37E}"/>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FC91CE71-EAA7-5B4D-81BD-648C0DFAC604}"/>
              </a:ext>
            </a:extLst>
          </p:cNvPr>
          <p:cNvSpPr>
            <a:spLocks noGrp="1"/>
          </p:cNvSpPr>
          <p:nvPr>
            <p:ph type="title"/>
          </p:nvPr>
        </p:nvSpPr>
        <p:spPr>
          <a:xfrm>
            <a:off x="457200" y="274638"/>
            <a:ext cx="8229600" cy="582594"/>
          </a:xfrm>
        </p:spPr>
        <p:txBody>
          <a:bodyPr>
            <a:noAutofit/>
          </a:bodyPr>
          <a:lstStyle/>
          <a:p>
            <a:r>
              <a:rPr lang="en-US" sz="2800" dirty="0">
                <a:latin typeface="Times New Roman" pitchFamily="18" charset="0"/>
                <a:cs typeface="Times New Roman" pitchFamily="18" charset="0"/>
              </a:rPr>
              <a:t>LITERATURE SURVEY</a:t>
            </a:r>
            <a:endParaRPr lang="en-US" sz="2800" dirty="0">
              <a:solidFill>
                <a:srgbClr val="FF0000"/>
              </a:solidFill>
              <a:latin typeface="Times New Roman" pitchFamily="18" charset="0"/>
              <a:cs typeface="Times New Roman" pitchFamily="18" charset="0"/>
            </a:endParaRPr>
          </a:p>
        </p:txBody>
      </p:sp>
      <p:graphicFrame>
        <p:nvGraphicFramePr>
          <p:cNvPr id="4" name="Content Placeholder 6">
            <a:extLst>
              <a:ext uri="{FF2B5EF4-FFF2-40B4-BE49-F238E27FC236}">
                <a16:creationId xmlns:a16="http://schemas.microsoft.com/office/drawing/2014/main" id="{177B623E-F668-2829-4F38-2F98B83EBB13}"/>
              </a:ext>
            </a:extLst>
          </p:cNvPr>
          <p:cNvGraphicFramePr>
            <a:graphicFrameLocks/>
          </p:cNvGraphicFramePr>
          <p:nvPr>
            <p:extLst>
              <p:ext uri="{D42A27DB-BD31-4B8C-83A1-F6EECF244321}">
                <p14:modId xmlns:p14="http://schemas.microsoft.com/office/powerpoint/2010/main" val="660576665"/>
              </p:ext>
            </p:extLst>
          </p:nvPr>
        </p:nvGraphicFramePr>
        <p:xfrm>
          <a:off x="9831" y="296128"/>
          <a:ext cx="9144001" cy="6400800"/>
        </p:xfrm>
        <a:graphic>
          <a:graphicData uri="http://schemas.openxmlformats.org/drawingml/2006/table">
            <a:tbl>
              <a:tblPr firstRow="1" bandRow="1">
                <a:tableStyleId>{5C22544A-7EE6-4342-B048-85BDC9FD1C3A}</a:tableStyleId>
              </a:tblPr>
              <a:tblGrid>
                <a:gridCol w="381001">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07256">
                  <a:extLst>
                    <a:ext uri="{9D8B030D-6E8A-4147-A177-3AD203B41FA5}">
                      <a16:colId xmlns:a16="http://schemas.microsoft.com/office/drawing/2014/main" val="20002"/>
                    </a:ext>
                  </a:extLst>
                </a:gridCol>
                <a:gridCol w="2156604">
                  <a:extLst>
                    <a:ext uri="{9D8B030D-6E8A-4147-A177-3AD203B41FA5}">
                      <a16:colId xmlns:a16="http://schemas.microsoft.com/office/drawing/2014/main" val="20003"/>
                    </a:ext>
                  </a:extLst>
                </a:gridCol>
                <a:gridCol w="2070340">
                  <a:extLst>
                    <a:ext uri="{9D8B030D-6E8A-4147-A177-3AD203B41FA5}">
                      <a16:colId xmlns:a16="http://schemas.microsoft.com/office/drawing/2014/main" val="20004"/>
                    </a:ext>
                  </a:extLst>
                </a:gridCol>
              </a:tblGrid>
              <a:tr h="1133485">
                <a:tc>
                  <a:txBody>
                    <a:bodyPr/>
                    <a:lstStyle/>
                    <a:p>
                      <a:pPr algn="just"/>
                      <a:r>
                        <a:rPr lang="en-US" sz="1600" i="0" dirty="0">
                          <a:latin typeface="Times New Roman" pitchFamily="18" charset="0"/>
                          <a:cs typeface="Times New Roman" pitchFamily="18" charset="0"/>
                        </a:rPr>
                        <a:t>Sr.</a:t>
                      </a:r>
                    </a:p>
                    <a:p>
                      <a:pPr algn="just"/>
                      <a:r>
                        <a:rPr lang="en-US" sz="1600" i="0" dirty="0">
                          <a:latin typeface="Times New Roman" pitchFamily="18" charset="0"/>
                          <a:cs typeface="Times New Roman" pitchFamily="18" charset="0"/>
                        </a:rPr>
                        <a:t>No</a:t>
                      </a:r>
                    </a:p>
                  </a:txBody>
                  <a:tcPr/>
                </a:tc>
                <a:tc>
                  <a:txBody>
                    <a:bodyPr/>
                    <a:lstStyle/>
                    <a:p>
                      <a:pPr algn="just"/>
                      <a:r>
                        <a:rPr lang="en-US" sz="1600" i="0" dirty="0">
                          <a:latin typeface="Times New Roman" pitchFamily="18" charset="0"/>
                          <a:cs typeface="Times New Roman" pitchFamily="18" charset="0"/>
                        </a:rPr>
                        <a:t>Title of the Article,</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itchFamily="18" charset="0"/>
                          <a:cs typeface="Times New Roman" pitchFamily="18" charset="0"/>
                        </a:rPr>
                        <a:t>Authors</a:t>
                      </a:r>
                      <a:r>
                        <a:rPr lang="en-US" sz="1600" i="0" baseline="0" dirty="0">
                          <a:latin typeface="Times New Roman" pitchFamily="18" charset="0"/>
                          <a:cs typeface="Times New Roman" pitchFamily="18" charset="0"/>
                        </a:rPr>
                        <a:t> and</a:t>
                      </a:r>
                      <a:endParaRPr lang="en-US" sz="1600" i="0" dirty="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itchFamily="18" charset="0"/>
                          <a:cs typeface="Times New Roman" pitchFamily="18" charset="0"/>
                        </a:rPr>
                        <a:t>Year of publication</a:t>
                      </a:r>
                    </a:p>
                    <a:p>
                      <a:pPr algn="just"/>
                      <a:endParaRPr lang="en-US" sz="1600" i="0" dirty="0">
                        <a:latin typeface="Times New Roman" pitchFamily="18" charset="0"/>
                        <a:cs typeface="Times New Roman" pitchFamily="18" charset="0"/>
                      </a:endParaRPr>
                    </a:p>
                  </a:txBody>
                  <a:tcPr/>
                </a:tc>
                <a:tc>
                  <a:txBody>
                    <a:bodyPr/>
                    <a:lstStyle/>
                    <a:p>
                      <a:pPr algn="just"/>
                      <a:r>
                        <a:rPr lang="en-US" sz="1600" i="0" dirty="0">
                          <a:latin typeface="Times New Roman" pitchFamily="18" charset="0"/>
                          <a:cs typeface="Times New Roman" pitchFamily="18" charset="0"/>
                        </a:rPr>
                        <a:t>Focus of Study,</a:t>
                      </a:r>
                      <a:r>
                        <a:rPr lang="en-US" sz="1600" i="0" baseline="0" dirty="0">
                          <a:latin typeface="Times New Roman" pitchFamily="18" charset="0"/>
                          <a:cs typeface="Times New Roman" pitchFamily="18" charset="0"/>
                        </a:rPr>
                        <a:t> </a:t>
                      </a:r>
                      <a:r>
                        <a:rPr lang="en-US" sz="1600" i="0" dirty="0">
                          <a:latin typeface="Times New Roman" pitchFamily="18" charset="0"/>
                          <a:cs typeface="Times New Roman" pitchFamily="18" charset="0"/>
                        </a:rPr>
                        <a:t>Design, Objectives , Method used and Sample size</a:t>
                      </a:r>
                      <a:r>
                        <a:rPr lang="en-US" sz="1600" i="0" baseline="0" dirty="0">
                          <a:latin typeface="Times New Roman" pitchFamily="18" charset="0"/>
                          <a:cs typeface="Times New Roman" pitchFamily="18" charset="0"/>
                        </a:rPr>
                        <a:t> </a:t>
                      </a:r>
                      <a:endParaRPr lang="en-US" sz="1600" i="0" dirty="0">
                        <a:latin typeface="Times New Roman" pitchFamily="18" charset="0"/>
                        <a:cs typeface="Times New Roman" pitchFamily="18" charset="0"/>
                      </a:endParaRPr>
                    </a:p>
                  </a:txBody>
                  <a:tcPr/>
                </a:tc>
                <a:tc>
                  <a:txBody>
                    <a:bodyPr/>
                    <a:lstStyle/>
                    <a:p>
                      <a:pPr algn="just"/>
                      <a:r>
                        <a:rPr lang="en-US" sz="1600" i="0" dirty="0">
                          <a:latin typeface="Times New Roman" pitchFamily="18" charset="0"/>
                          <a:cs typeface="Times New Roman" pitchFamily="18" charset="0"/>
                        </a:rPr>
                        <a:t>Findings of the study and</a:t>
                      </a:r>
                      <a:r>
                        <a:rPr lang="en-US" sz="1600" i="0" baseline="0" dirty="0">
                          <a:latin typeface="Times New Roman" pitchFamily="18" charset="0"/>
                          <a:cs typeface="Times New Roman" pitchFamily="18" charset="0"/>
                        </a:rPr>
                        <a:t> </a:t>
                      </a:r>
                      <a:r>
                        <a:rPr lang="en-US" sz="1600" i="0" dirty="0">
                          <a:latin typeface="Times New Roman" pitchFamily="18" charset="0"/>
                          <a:cs typeface="Times New Roman" pitchFamily="18" charset="0"/>
                        </a:rPr>
                        <a:t>conclusions</a:t>
                      </a:r>
                    </a:p>
                  </a:txBody>
                  <a:tcPr/>
                </a:tc>
                <a:tc>
                  <a:txBody>
                    <a:bodyPr/>
                    <a:lstStyle/>
                    <a:p>
                      <a:pPr algn="just"/>
                      <a:r>
                        <a:rPr lang="en-US" sz="1600" i="0" dirty="0">
                          <a:latin typeface="Times New Roman" pitchFamily="18" charset="0"/>
                          <a:cs typeface="Times New Roman" pitchFamily="18" charset="0"/>
                        </a:rPr>
                        <a:t>Remarks of the Scholar</a:t>
                      </a:r>
                    </a:p>
                  </a:txBody>
                  <a:tcPr/>
                </a:tc>
                <a:extLst>
                  <a:ext uri="{0D108BD9-81ED-4DB2-BD59-A6C34878D82A}">
                    <a16:rowId xmlns:a16="http://schemas.microsoft.com/office/drawing/2014/main" val="10000"/>
                  </a:ext>
                </a:extLst>
              </a:tr>
              <a:tr h="1133485">
                <a:tc>
                  <a:txBody>
                    <a:bodyPr/>
                    <a:lstStyle/>
                    <a:p>
                      <a:pPr algn="just"/>
                      <a:r>
                        <a:rPr lang="en-US" sz="1400" i="0" dirty="0">
                          <a:latin typeface="Times New Roman" pitchFamily="18" charset="0"/>
                          <a:cs typeface="Times New Roman" pitchFamily="18" charset="0"/>
                        </a:rPr>
                        <a:t>5.</a:t>
                      </a:r>
                    </a:p>
                  </a:txBody>
                  <a:tcPr/>
                </a:tc>
                <a:tc>
                  <a:txBody>
                    <a:bodyPr/>
                    <a:lstStyle/>
                    <a:p>
                      <a:pPr algn="just"/>
                      <a:r>
                        <a:rPr lang="en-US" sz="1400" b="1" dirty="0">
                          <a:latin typeface="Times New Roman" panose="02020603050405020304" pitchFamily="18" charset="0"/>
                          <a:cs typeface="Times New Roman" panose="02020603050405020304" pitchFamily="18" charset="0"/>
                        </a:rPr>
                        <a:t>Prediction of Visual Field Progression from OCT Structural Measures in moderate to advanced Glaucoma</a:t>
                      </a:r>
                    </a:p>
                    <a:p>
                      <a:pPr algn="just"/>
                      <a:endParaRPr lang="en-US" sz="1400" i="0" dirty="0">
                        <a:latin typeface="Times New Roman" pitchFamily="18" charset="0"/>
                        <a:cs typeface="Times New Roman" pitchFamily="18" charset="0"/>
                      </a:endParaRPr>
                    </a:p>
                    <a:p>
                      <a:pPr algn="just"/>
                      <a:r>
                        <a:rPr lang="en-IN" sz="1400" dirty="0">
                          <a:latin typeface="Times New Roman" panose="02020603050405020304" pitchFamily="18" charset="0"/>
                          <a:cs typeface="Times New Roman" panose="02020603050405020304" pitchFamily="18" charset="0"/>
                        </a:rPr>
                        <a:t>Nouri-Mahdavi et al. (2021)</a:t>
                      </a:r>
                      <a:endParaRPr lang="en-US" sz="1400" i="0" dirty="0">
                        <a:latin typeface="Times New Roman" pitchFamily="18" charset="0"/>
                        <a:cs typeface="Times New Roman"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Focus:</a:t>
                      </a:r>
                      <a:r>
                        <a:rPr lang="en-US" sz="1400" dirty="0">
                          <a:latin typeface="Times New Roman" panose="02020603050405020304" pitchFamily="18" charset="0"/>
                          <a:cs typeface="Times New Roman" panose="02020603050405020304" pitchFamily="18" charset="0"/>
                        </a:rPr>
                        <a:t> Predicting functional (Visual Field) loss using structural (OCT) data.</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Method:</a:t>
                      </a:r>
                      <a:r>
                        <a:rPr lang="en-US" sz="1400" dirty="0">
                          <a:latin typeface="Times New Roman" panose="02020603050405020304" pitchFamily="18" charset="0"/>
                          <a:cs typeface="Times New Roman" panose="02020603050405020304" pitchFamily="18" charset="0"/>
                        </a:rPr>
                        <a:t> Used Elastic Net Regression (ENR) and Machine Learning (Naïve Bayes, RF, SVM).</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Sample:</a:t>
                      </a:r>
                      <a:r>
                        <a:rPr lang="en-US" sz="1400" dirty="0">
                          <a:latin typeface="Times New Roman" panose="02020603050405020304" pitchFamily="18" charset="0"/>
                          <a:cs typeface="Times New Roman" panose="02020603050405020304" pitchFamily="18" charset="0"/>
                        </a:rPr>
                        <a:t> 104 eyes with moderate to advanced glaucoma.</a:t>
                      </a:r>
                    </a:p>
                    <a:p>
                      <a:pPr algn="just"/>
                      <a:endParaRPr lang="en-US" sz="1400" i="0" dirty="0">
                        <a:latin typeface="Times New Roman" pitchFamily="18" charset="0"/>
                        <a:cs typeface="Times New Roman"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Findings: </a:t>
                      </a:r>
                      <a:r>
                        <a:rPr lang="en-US" sz="1400" dirty="0">
                          <a:latin typeface="Times New Roman" panose="02020603050405020304" pitchFamily="18" charset="0"/>
                          <a:cs typeface="Times New Roman" panose="02020603050405020304" pitchFamily="18" charset="0"/>
                        </a:rPr>
                        <a:t>Machine Learning (Naïve Bayes) achieved the best AUC (0.81). Macular GCIPL measures were better predictors than RNFL in advanced cases .</a:t>
                      </a:r>
                      <a:endParaRPr lang="en-US" sz="1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Establishes the biological correlation between structural damage (OCT) and functional vision loss, justifying the use of multimodal data.</a:t>
                      </a:r>
                      <a:endParaRPr lang="en-US" sz="1400" i="0" dirty="0">
                        <a:latin typeface="Times New Roman" pitchFamily="18" charset="0"/>
                        <a:cs typeface="Times New Roman" pitchFamily="18" charset="0"/>
                      </a:endParaRPr>
                    </a:p>
                  </a:txBody>
                  <a:tcPr/>
                </a:tc>
                <a:extLst>
                  <a:ext uri="{0D108BD9-81ED-4DB2-BD59-A6C34878D82A}">
                    <a16:rowId xmlns:a16="http://schemas.microsoft.com/office/drawing/2014/main" val="1206687222"/>
                  </a:ext>
                </a:extLst>
              </a:tr>
              <a:tr h="1133485">
                <a:tc>
                  <a:txBody>
                    <a:bodyPr/>
                    <a:lstStyle/>
                    <a:p>
                      <a:pPr algn="just"/>
                      <a:r>
                        <a:rPr lang="en-US" sz="1400" i="0" dirty="0">
                          <a:latin typeface="Times New Roman" pitchFamily="18" charset="0"/>
                          <a:cs typeface="Times New Roman" pitchFamily="18" charset="0"/>
                        </a:rPr>
                        <a:t>6.</a:t>
                      </a:r>
                    </a:p>
                  </a:txBody>
                  <a:tcPr/>
                </a:tc>
                <a:tc>
                  <a:txBody>
                    <a:bodyPr/>
                    <a:lstStyle/>
                    <a:p>
                      <a:pPr algn="just"/>
                      <a:r>
                        <a:rPr lang="en-US" sz="1400" b="1" dirty="0">
                          <a:latin typeface="Times New Roman" panose="02020603050405020304" pitchFamily="18" charset="0"/>
                          <a:cs typeface="Times New Roman" panose="02020603050405020304" pitchFamily="18" charset="0"/>
                        </a:rPr>
                        <a:t>Artificial Intelligence and Advanced Technology in Glaucoma: A Review</a:t>
                      </a:r>
                      <a:endParaRPr lang="en-US" sz="1400" dirty="0">
                        <a:latin typeface="Times New Roman" panose="02020603050405020304" pitchFamily="18" charset="0"/>
                        <a:cs typeface="Times New Roman" panose="02020603050405020304" pitchFamily="18" charset="0"/>
                      </a:endParaRPr>
                    </a:p>
                    <a:p>
                      <a:pPr algn="just"/>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Tonti et al. (2024)</a:t>
                      </a:r>
                    </a:p>
                    <a:p>
                      <a:pPr algn="just"/>
                      <a:endParaRPr lang="en-US" sz="1400" i="0" dirty="0">
                        <a:latin typeface="Times New Roman" pitchFamily="18" charset="0"/>
                        <a:cs typeface="Times New Roman"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Focus:</a:t>
                      </a:r>
                      <a:r>
                        <a:rPr lang="en-US" sz="1400" dirty="0">
                          <a:latin typeface="Times New Roman" panose="02020603050405020304" pitchFamily="18" charset="0"/>
                          <a:cs typeface="Times New Roman" panose="02020603050405020304" pitchFamily="18" charset="0"/>
                        </a:rPr>
                        <a:t> Review of AI in personalized medicine and teleophthalmology.</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Method:</a:t>
                      </a:r>
                      <a:r>
                        <a:rPr lang="en-US" sz="1400" dirty="0">
                          <a:latin typeface="Times New Roman" panose="02020603050405020304" pitchFamily="18" charset="0"/>
                          <a:cs typeface="Times New Roman" panose="02020603050405020304" pitchFamily="18" charset="0"/>
                        </a:rPr>
                        <a:t> Systematic search of PubMed/Scopus for ML/DL</a:t>
                      </a:r>
                    </a:p>
                    <a:p>
                      <a:pPr algn="just"/>
                      <a:r>
                        <a:rPr lang="en-US" sz="1400" dirty="0">
                          <a:latin typeface="Times New Roman" panose="02020603050405020304" pitchFamily="18" charset="0"/>
                          <a:cs typeface="Times New Roman" panose="02020603050405020304" pitchFamily="18" charset="0"/>
                        </a:rPr>
                        <a:t>Applications.</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Sample:</a:t>
                      </a:r>
                      <a:r>
                        <a:rPr lang="en-US" sz="1400" dirty="0">
                          <a:latin typeface="Times New Roman" panose="02020603050405020304" pitchFamily="18" charset="0"/>
                          <a:cs typeface="Times New Roman" panose="02020603050405020304" pitchFamily="18" charset="0"/>
                        </a:rPr>
                        <a:t> Reviewed 60 papers on diagnosis and treatment optimization.</a:t>
                      </a:r>
                    </a:p>
                    <a:p>
                      <a:pPr algn="just"/>
                      <a:endParaRPr lang="en-US" sz="1400" i="0" dirty="0">
                        <a:latin typeface="Times New Roman" pitchFamily="18" charset="0"/>
                        <a:cs typeface="Times New Roman" pitchFamily="18" charset="0"/>
                      </a:endParaRPr>
                    </a:p>
                  </a:txBody>
                  <a:tcPr/>
                </a:tc>
                <a:tc>
                  <a:txBody>
                    <a:bodyPr/>
                    <a:lstStyle/>
                    <a:p>
                      <a:pPr algn="just"/>
                      <a:r>
                        <a:rPr lang="en-US" sz="1400" b="1" dirty="0">
                          <a:latin typeface="Times New Roman" panose="02020603050405020304" pitchFamily="18" charset="0"/>
                          <a:cs typeface="Times New Roman" panose="02020603050405020304" pitchFamily="18" charset="0"/>
                        </a:rPr>
                        <a:t>Findings:</a:t>
                      </a:r>
                      <a:r>
                        <a:rPr lang="en-US" sz="1400" dirty="0">
                          <a:latin typeface="Times New Roman" panose="02020603050405020304" pitchFamily="18" charset="0"/>
                          <a:cs typeface="Times New Roman" panose="02020603050405020304" pitchFamily="18" charset="0"/>
                        </a:rPr>
                        <a:t> AI enables "Risk Stratification" (identifying high-risk patients early). Highlighted the potential of AI in teleophthalmology for remote monitoring .</a:t>
                      </a:r>
                      <a:endParaRPr lang="en-US" sz="1400" i="0" dirty="0">
                        <a:latin typeface="Times New Roman" pitchFamily="18" charset="0"/>
                        <a:cs typeface="Times New Roman"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Supports the "Societal Impact" of the project, showing how AI can democratize access to glaucoma screening in underserved areas.</a:t>
                      </a:r>
                      <a:endParaRPr lang="en-US" sz="1400" i="0" dirty="0">
                        <a:latin typeface="Times New Roman" pitchFamily="18" charset="0"/>
                        <a:cs typeface="Times New Roman" pitchFamily="18" charset="0"/>
                      </a:endParaRPr>
                    </a:p>
                  </a:txBody>
                  <a:tcPr/>
                </a:tc>
                <a:extLst>
                  <a:ext uri="{0D108BD9-81ED-4DB2-BD59-A6C34878D82A}">
                    <a16:rowId xmlns:a16="http://schemas.microsoft.com/office/drawing/2014/main" val="3705659318"/>
                  </a:ext>
                </a:extLst>
              </a:tr>
            </a:tbl>
          </a:graphicData>
        </a:graphic>
      </p:graphicFrame>
    </p:spTree>
    <p:extLst>
      <p:ext uri="{BB962C8B-B14F-4D97-AF65-F5344CB8AC3E}">
        <p14:creationId xmlns:p14="http://schemas.microsoft.com/office/powerpoint/2010/main" val="1398997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289F4-8D2D-FE22-8B31-30595079DCB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CFE3DD8-653F-D555-A6BD-952074C1B628}"/>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8</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CF9C6692-F2B4-AEB3-0A61-8C7BC9349FD9}"/>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65398200-442D-3EDF-4318-3FFB04A891DD}"/>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74DCD04C-4BBD-3EC6-BAB6-5908830839F3}"/>
              </a:ext>
            </a:extLst>
          </p:cNvPr>
          <p:cNvSpPr>
            <a:spLocks noGrp="1"/>
          </p:cNvSpPr>
          <p:nvPr>
            <p:ph type="title"/>
          </p:nvPr>
        </p:nvSpPr>
        <p:spPr>
          <a:xfrm>
            <a:off x="685800" y="403941"/>
            <a:ext cx="8229600" cy="582594"/>
          </a:xfrm>
        </p:spPr>
        <p:txBody>
          <a:bodyPr>
            <a:noAutofit/>
          </a:bodyPr>
          <a:lstStyle/>
          <a:p>
            <a:pPr>
              <a:lnSpc>
                <a:spcPct val="150000"/>
              </a:lnSpc>
            </a:pPr>
            <a:r>
              <a:rPr lang="en-US" sz="3200" cap="all" dirty="0">
                <a:latin typeface="Times New Roman" pitchFamily="18" charset="0"/>
                <a:cs typeface="Times New Roman" pitchFamily="18" charset="0"/>
              </a:rPr>
              <a:t>Summary of Research Gap</a:t>
            </a:r>
            <a:br>
              <a:rPr lang="en-US" sz="3200" cap="all" dirty="0">
                <a:latin typeface="Times New Roman" pitchFamily="18" charset="0"/>
                <a:cs typeface="Times New Roman" pitchFamily="18" charset="0"/>
              </a:rPr>
            </a:br>
            <a:r>
              <a:rPr lang="en-US" sz="3200" dirty="0">
                <a:latin typeface="Times New Roman" pitchFamily="18" charset="0"/>
                <a:cs typeface="Times New Roman" pitchFamily="18" charset="0"/>
              </a:rPr>
              <a:t> </a:t>
            </a:r>
          </a:p>
        </p:txBody>
      </p:sp>
      <p:sp>
        <p:nvSpPr>
          <p:cNvPr id="4" name="TextBox 3">
            <a:extLst>
              <a:ext uri="{FF2B5EF4-FFF2-40B4-BE49-F238E27FC236}">
                <a16:creationId xmlns:a16="http://schemas.microsoft.com/office/drawing/2014/main" id="{05167A3F-C173-10E6-6842-C7ED4C6AB080}"/>
              </a:ext>
            </a:extLst>
          </p:cNvPr>
          <p:cNvSpPr txBox="1"/>
          <p:nvPr/>
        </p:nvSpPr>
        <p:spPr>
          <a:xfrm>
            <a:off x="635793" y="790491"/>
            <a:ext cx="7872412" cy="556594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Cloud Dependency Risk: </a:t>
            </a:r>
            <a:r>
              <a:rPr lang="en-US" sz="2400" dirty="0">
                <a:latin typeface="Times New Roman" panose="02020603050405020304" pitchFamily="18" charset="0"/>
                <a:cs typeface="Times New Roman" panose="02020603050405020304" pitchFamily="18" charset="0"/>
              </a:rPr>
              <a:t>Existing medical assistants heavily rely on external APIs, creating a massive vulnerability regarding patient data leakage.</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Siloed Modalities: </a:t>
            </a:r>
            <a:r>
              <a:rPr lang="en-US" sz="2400" dirty="0">
                <a:latin typeface="Times New Roman" panose="02020603050405020304" pitchFamily="18" charset="0"/>
                <a:cs typeface="Times New Roman" panose="02020603050405020304" pitchFamily="18" charset="0"/>
              </a:rPr>
              <a:t>Most clinical AI frameworks handle only vision, only audio, or only text—failing to combine them into a singular diagnostic environment.</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Lack of Actionable Explainability: </a:t>
            </a:r>
            <a:r>
              <a:rPr lang="en-US" sz="2400" dirty="0">
                <a:latin typeface="Times New Roman" panose="02020603050405020304" pitchFamily="18" charset="0"/>
                <a:cs typeface="Times New Roman" panose="02020603050405020304" pitchFamily="18" charset="0"/>
              </a:rPr>
              <a:t>Tree-based and deep learning diagnostic models rarely provide the instant feature-level transparency that physicians require during live screening.</a:t>
            </a:r>
          </a:p>
        </p:txBody>
      </p:sp>
    </p:spTree>
    <p:extLst>
      <p:ext uri="{BB962C8B-B14F-4D97-AF65-F5344CB8AC3E}">
        <p14:creationId xmlns:p14="http://schemas.microsoft.com/office/powerpoint/2010/main" val="2201637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39EF-B448-3630-F4D6-FEC7D3ACAD1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C02CBF5-C67C-9ACA-E321-64A29061C6FE}"/>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9</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DD5F17ED-BE95-9FD6-2795-E784A370E8C4}"/>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6041B6C6-1EE5-95AC-8C44-7E1D1C37FCCF}"/>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C2395BC1-A975-CE55-CB9D-326E5024B2A6}"/>
              </a:ext>
            </a:extLst>
          </p:cNvPr>
          <p:cNvSpPr>
            <a:spLocks noGrp="1"/>
          </p:cNvSpPr>
          <p:nvPr>
            <p:ph type="title"/>
          </p:nvPr>
        </p:nvSpPr>
        <p:spPr>
          <a:xfrm>
            <a:off x="521494" y="208692"/>
            <a:ext cx="8229600" cy="914400"/>
          </a:xfrm>
        </p:spPr>
        <p:txBody>
          <a:bodyPr>
            <a:normAutofit/>
          </a:bodyPr>
          <a:lstStyle/>
          <a:p>
            <a:pPr>
              <a:lnSpc>
                <a:spcPct val="150000"/>
              </a:lnSpc>
            </a:pPr>
            <a:r>
              <a:rPr lang="en-US" sz="3200" dirty="0">
                <a:latin typeface="Times New Roman" pitchFamily="18" charset="0"/>
                <a:cs typeface="Times New Roman" pitchFamily="18" charset="0"/>
              </a:rPr>
              <a:t>RESEARCH QUESTION</a:t>
            </a:r>
          </a:p>
        </p:txBody>
      </p:sp>
      <p:sp>
        <p:nvSpPr>
          <p:cNvPr id="4" name="TextBox 3">
            <a:extLst>
              <a:ext uri="{FF2B5EF4-FFF2-40B4-BE49-F238E27FC236}">
                <a16:creationId xmlns:a16="http://schemas.microsoft.com/office/drawing/2014/main" id="{F17AA6DF-06FA-F107-C64A-B6ACB0664AD4}"/>
              </a:ext>
            </a:extLst>
          </p:cNvPr>
          <p:cNvSpPr txBox="1"/>
          <p:nvPr/>
        </p:nvSpPr>
        <p:spPr>
          <a:xfrm>
            <a:off x="914400" y="1232095"/>
            <a:ext cx="7708106" cy="3349956"/>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How can a fully offline, edge-computed multi-modal AI architecture—integrating speech recognition, generative natural language query writing, supervised predictive ML with feature-level explainability, unsupervised anomaly detection, and vision transformers—be engineered to create a secure clinical decision platform?</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315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8BF0-6FFD-D454-9470-6175E0A6741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C10389B-FD21-2E85-029B-6E6FAC050AAC}"/>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10</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CEF080F6-ED20-EDA0-48E7-BB6D077E8D78}"/>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3A153C19-8699-C129-CBD0-59D055E6DC61}"/>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7CAB2D23-8198-E2DF-03CB-58BD2E567319}"/>
              </a:ext>
            </a:extLst>
          </p:cNvPr>
          <p:cNvSpPr>
            <a:spLocks noGrp="1"/>
          </p:cNvSpPr>
          <p:nvPr>
            <p:ph type="title"/>
          </p:nvPr>
        </p:nvSpPr>
        <p:spPr>
          <a:xfrm>
            <a:off x="990600" y="274638"/>
            <a:ext cx="7696200" cy="715962"/>
          </a:xfrm>
        </p:spPr>
        <p:txBody>
          <a:bodyPr>
            <a:normAutofit/>
          </a:bodyPr>
          <a:lstStyle/>
          <a:p>
            <a:r>
              <a:rPr lang="en-US" sz="3200" dirty="0">
                <a:latin typeface="Times New Roman" pitchFamily="18" charset="0"/>
                <a:cs typeface="Times New Roman" pitchFamily="18" charset="0"/>
              </a:rPr>
              <a:t>AIM</a:t>
            </a:r>
          </a:p>
        </p:txBody>
      </p:sp>
      <p:sp>
        <p:nvSpPr>
          <p:cNvPr id="4" name="TextBox 3">
            <a:extLst>
              <a:ext uri="{FF2B5EF4-FFF2-40B4-BE49-F238E27FC236}">
                <a16:creationId xmlns:a16="http://schemas.microsoft.com/office/drawing/2014/main" id="{61DDCE97-5459-826B-6DFB-504CE1FE77DB}"/>
              </a:ext>
            </a:extLst>
          </p:cNvPr>
          <p:cNvSpPr txBox="1"/>
          <p:nvPr/>
        </p:nvSpPr>
        <p:spPr>
          <a:xfrm>
            <a:off x="685800" y="1006860"/>
            <a:ext cx="8001000" cy="3349956"/>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To design, implement, and validate a localized, multi-modal AI dashboard that processes natural language voice queries, generates automated database analysis, forecasts patient health risks with high explainability, purifies data quality via anomaly detection, and scans radiological imaging entirely on host hardware.</a:t>
            </a:r>
          </a:p>
        </p:txBody>
      </p:sp>
    </p:spTree>
    <p:extLst>
      <p:ext uri="{BB962C8B-B14F-4D97-AF65-F5344CB8AC3E}">
        <p14:creationId xmlns:p14="http://schemas.microsoft.com/office/powerpoint/2010/main" val="3341227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E71A5-E0A5-4FE3-CB4E-987D9C085EB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4174EB8-8F91-5B96-3F32-A658AEFB1D8A}"/>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11</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8C44C92B-8232-45F0-F4B9-9E5A189A8B7E}"/>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08F97C55-4F13-100C-59E3-DD8F4A6CF64A}"/>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B4112528-D8B1-60CD-A26E-8A6F61EEFA76}"/>
              </a:ext>
            </a:extLst>
          </p:cNvPr>
          <p:cNvSpPr>
            <a:spLocks noGrp="1"/>
          </p:cNvSpPr>
          <p:nvPr>
            <p:ph type="title"/>
          </p:nvPr>
        </p:nvSpPr>
        <p:spPr>
          <a:xfrm>
            <a:off x="506746" y="-185935"/>
            <a:ext cx="8229600" cy="868362"/>
          </a:xfrm>
        </p:spPr>
        <p:txBody>
          <a:bodyPr>
            <a:normAutofit/>
          </a:bodyPr>
          <a:lstStyle/>
          <a:p>
            <a:pPr>
              <a:lnSpc>
                <a:spcPct val="150000"/>
              </a:lnSpc>
            </a:pPr>
            <a:r>
              <a:rPr lang="en-US" sz="3200" dirty="0">
                <a:latin typeface="Times New Roman" pitchFamily="18" charset="0"/>
                <a:cs typeface="Times New Roman" pitchFamily="18" charset="0"/>
              </a:rPr>
              <a:t>OBJECTIVES</a:t>
            </a:r>
          </a:p>
        </p:txBody>
      </p:sp>
      <p:sp>
        <p:nvSpPr>
          <p:cNvPr id="4" name="TextBox 3">
            <a:extLst>
              <a:ext uri="{FF2B5EF4-FFF2-40B4-BE49-F238E27FC236}">
                <a16:creationId xmlns:a16="http://schemas.microsoft.com/office/drawing/2014/main" id="{17F50857-E434-759D-7B65-A1A57818029A}"/>
              </a:ext>
            </a:extLst>
          </p:cNvPr>
          <p:cNvSpPr txBox="1"/>
          <p:nvPr/>
        </p:nvSpPr>
        <p:spPr>
          <a:xfrm>
            <a:off x="-2" y="790465"/>
            <a:ext cx="9164321" cy="5115311"/>
          </a:xfrm>
          <a:prstGeom prst="rect">
            <a:avLst/>
          </a:prstGeom>
          <a:noFill/>
        </p:spPr>
        <p:txBody>
          <a:bodyPr wrap="square">
            <a:spAutoFit/>
          </a:bodyPr>
          <a:lstStyle/>
          <a:p>
            <a:pPr marL="457200" indent="-4572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Build a Speech-to-SQL Pipeline: </a:t>
            </a:r>
            <a:r>
              <a:rPr lang="en-US" sz="2000" dirty="0">
                <a:latin typeface="Times New Roman" panose="02020603050405020304" pitchFamily="18" charset="0"/>
                <a:cs typeface="Times New Roman" panose="02020603050405020304" pitchFamily="18" charset="0"/>
              </a:rPr>
              <a:t>Quantize a local automatic speech recognition (ASR) engine and LLM to seamlessly run text-to-SQL tasks.</a:t>
            </a:r>
          </a:p>
          <a:p>
            <a:pPr marL="457200" indent="-4572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Integrate Supervised Risk Modeling: </a:t>
            </a:r>
            <a:r>
              <a:rPr lang="en-US" sz="2000" dirty="0">
                <a:latin typeface="Times New Roman" panose="02020603050405020304" pitchFamily="18" charset="0"/>
                <a:cs typeface="Times New Roman" panose="02020603050405020304" pitchFamily="18" charset="0"/>
              </a:rPr>
              <a:t>Train a Random Forest classifier on standardized heart disease records to deliver real-time risk percentages.</a:t>
            </a:r>
          </a:p>
          <a:p>
            <a:pPr marL="457200" indent="-4572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Embed an Explainability Engine: </a:t>
            </a:r>
            <a:r>
              <a:rPr lang="en-IN" sz="2000" dirty="0">
                <a:latin typeface="Times New Roman" panose="02020603050405020304" pitchFamily="18" charset="0"/>
                <a:cs typeface="Times New Roman" panose="02020603050405020304" pitchFamily="18" charset="0"/>
              </a:rPr>
              <a:t>Wire SHAP value extraction into the user interface to generate structural breakdown graphs of clinical variables.</a:t>
            </a:r>
          </a:p>
          <a:p>
            <a:pPr marL="457200" indent="-4572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Engineer an Unsupervised Auditor: </a:t>
            </a:r>
            <a:r>
              <a:rPr lang="en-US" sz="2000" dirty="0">
                <a:latin typeface="Times New Roman" panose="02020603050405020304" pitchFamily="18" charset="0"/>
                <a:cs typeface="Times New Roman" panose="02020603050405020304" pitchFamily="18" charset="0"/>
              </a:rPr>
              <a:t>Utilize an Isolation Forest configuration to flag data anomalies inside hospital tables.</a:t>
            </a:r>
          </a:p>
          <a:p>
            <a:pPr marL="457200" indent="-4572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Deploy Multimodal Capabilities: </a:t>
            </a:r>
            <a:r>
              <a:rPr lang="en-IN" sz="2000" dirty="0">
                <a:latin typeface="Times New Roman" panose="02020603050405020304" pitchFamily="18" charset="0"/>
                <a:cs typeface="Times New Roman" panose="02020603050405020304" pitchFamily="18" charset="0"/>
              </a:rPr>
              <a:t>Add a Vector Space Search engine (TF-IDF/Cosine Similarity) for medical PDF processing (RAG) and a Vision Transformer (</a:t>
            </a:r>
            <a:r>
              <a:rPr lang="en-IN" sz="2000" dirty="0" err="1">
                <a:latin typeface="Times New Roman" panose="02020603050405020304" pitchFamily="18" charset="0"/>
                <a:cs typeface="Times New Roman" panose="02020603050405020304" pitchFamily="18" charset="0"/>
              </a:rPr>
              <a:t>ViT</a:t>
            </a:r>
            <a:r>
              <a:rPr lang="en-IN" sz="2000" dirty="0">
                <a:latin typeface="Times New Roman" panose="02020603050405020304" pitchFamily="18" charset="0"/>
                <a:cs typeface="Times New Roman" panose="02020603050405020304" pitchFamily="18" charset="0"/>
              </a:rPr>
              <a:t>) for automated Pneumonia detection in X-Rays.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1765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D95F4-A259-5BE3-DDD7-274B15DAEB6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7984826-8798-D8AA-72BC-B1B62E6A82B6}"/>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12</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7EA31552-8203-89E9-5CA2-61808842A516}"/>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E2A45284-ADB8-42D3-42F8-C653BEFA0D22}"/>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extBox 1">
            <a:extLst>
              <a:ext uri="{FF2B5EF4-FFF2-40B4-BE49-F238E27FC236}">
                <a16:creationId xmlns:a16="http://schemas.microsoft.com/office/drawing/2014/main" id="{DEB8F7EB-ED7A-ADA8-AE4E-8087C3C213A4}"/>
              </a:ext>
            </a:extLst>
          </p:cNvPr>
          <p:cNvSpPr txBox="1"/>
          <p:nvPr/>
        </p:nvSpPr>
        <p:spPr>
          <a:xfrm>
            <a:off x="-2" y="30163"/>
            <a:ext cx="9143998" cy="742511"/>
          </a:xfrm>
          <a:prstGeom prst="rect">
            <a:avLst/>
          </a:prstGeom>
          <a:noFill/>
        </p:spPr>
        <p:txBody>
          <a:bodyPr wrap="square">
            <a:spAutoFit/>
          </a:bodyPr>
          <a:lstStyle/>
          <a:p>
            <a:pPr algn="ctr">
              <a:lnSpc>
                <a:spcPct val="150000"/>
              </a:lnSpc>
            </a:pPr>
            <a:r>
              <a:rPr lang="en-US" sz="3200" cap="all" dirty="0">
                <a:latin typeface="Times New Roman" pitchFamily="18" charset="0"/>
                <a:cs typeface="Times New Roman" pitchFamily="18" charset="0"/>
              </a:rPr>
              <a:t>Methodology</a:t>
            </a:r>
            <a:endParaRPr lang="en-US" sz="2800" cap="all" dirty="0">
              <a:latin typeface="Times New Roman" pitchFamily="18" charset="0"/>
              <a:cs typeface="Times New Roman" pitchFamily="18" charset="0"/>
            </a:endParaRPr>
          </a:p>
        </p:txBody>
      </p:sp>
      <p:sp>
        <p:nvSpPr>
          <p:cNvPr id="29" name="Rectangle 22">
            <a:extLst>
              <a:ext uri="{FF2B5EF4-FFF2-40B4-BE49-F238E27FC236}">
                <a16:creationId xmlns:a16="http://schemas.microsoft.com/office/drawing/2014/main" id="{E6212698-25A9-E758-A321-E02C0CFDAE1B}"/>
              </a:ext>
            </a:extLst>
          </p:cNvPr>
          <p:cNvSpPr>
            <a:spLocks noChangeArrowheads="1"/>
          </p:cNvSpPr>
          <p:nvPr/>
        </p:nvSpPr>
        <p:spPr bwMode="auto">
          <a:xfrm>
            <a:off x="19493" y="725444"/>
            <a:ext cx="9144000"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Phase 1: Generative Clinical Assistant </a:t>
            </a:r>
          </a:p>
          <a:p>
            <a:pPr lvl="0" algn="just"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Speech Translation: </a:t>
            </a:r>
            <a:r>
              <a:rPr lang="en-US" altLang="en-US" sz="2000" dirty="0">
                <a:latin typeface="Times New Roman" panose="02020603050405020304" pitchFamily="18" charset="0"/>
                <a:cs typeface="Times New Roman" panose="02020603050405020304" pitchFamily="18" charset="0"/>
              </a:rPr>
              <a:t>Faster-Whisper decodes voice inputs locally into standard string prompts.</a:t>
            </a:r>
          </a:p>
          <a:p>
            <a:pPr lvl="0" algn="just"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Structured/Unstructured Hybrid Engine: </a:t>
            </a:r>
            <a:r>
              <a:rPr lang="en-US" altLang="en-US" sz="2000" dirty="0">
                <a:latin typeface="Times New Roman" panose="02020603050405020304" pitchFamily="18" charset="0"/>
                <a:cs typeface="Times New Roman" panose="02020603050405020304" pitchFamily="18" charset="0"/>
              </a:rPr>
              <a:t>Local Qwen routes text inputs either to generate executable SQLite code for the relational database or queries a local Vector Library built on TF-IDF matrices to scan raw medical PDFs.</a:t>
            </a:r>
          </a:p>
          <a:p>
            <a:pPr lvl="0" algn="just"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Phase 2: Supervised Prognostics &amp; Explainable AI</a:t>
            </a:r>
          </a:p>
          <a:p>
            <a:pPr lvl="0"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Classifier: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Scikit-Learn Random Forest model evaluates patient variables (Age, BP, Cholesterol).</a:t>
            </a:r>
          </a:p>
          <a:p>
            <a:pPr lvl="0"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Interpretation: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hooks into a SHAP explainer, converting raw prediction calculations into an interactive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waterfall plot that visualizes marginal feature contributions.</a:t>
            </a:r>
          </a:p>
        </p:txBody>
      </p:sp>
      <p:sp>
        <p:nvSpPr>
          <p:cNvPr id="30" name="Rectangle 23">
            <a:extLst>
              <a:ext uri="{FF2B5EF4-FFF2-40B4-BE49-F238E27FC236}">
                <a16:creationId xmlns:a16="http://schemas.microsoft.com/office/drawing/2014/main" id="{986FAE1A-7021-CB3E-CF5D-B82CCC653192}"/>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1" name="Rectangle 24">
            <a:extLst>
              <a:ext uri="{FF2B5EF4-FFF2-40B4-BE49-F238E27FC236}">
                <a16:creationId xmlns:a16="http://schemas.microsoft.com/office/drawing/2014/main" id="{CE976832-DC5D-59A3-6AFF-03E30A95C15E}"/>
              </a:ext>
            </a:extLst>
          </p:cNvPr>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7793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48C84-8E8A-14C3-4205-51D04A88052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6E68D2F-65A5-CDEE-8C1E-30BB2781917F}"/>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13</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F6B99CEE-8032-7542-45E0-82CBE0C73AA0}"/>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E1571D88-85D4-7934-A214-BEF2476C08A5}"/>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extBox 1">
            <a:extLst>
              <a:ext uri="{FF2B5EF4-FFF2-40B4-BE49-F238E27FC236}">
                <a16:creationId xmlns:a16="http://schemas.microsoft.com/office/drawing/2014/main" id="{B1A84BD3-E66E-AFE4-4E51-63F11DEE904E}"/>
              </a:ext>
            </a:extLst>
          </p:cNvPr>
          <p:cNvSpPr txBox="1"/>
          <p:nvPr/>
        </p:nvSpPr>
        <p:spPr>
          <a:xfrm>
            <a:off x="-2" y="-126781"/>
            <a:ext cx="9144000" cy="742511"/>
          </a:xfrm>
          <a:prstGeom prst="rect">
            <a:avLst/>
          </a:prstGeom>
          <a:noFill/>
        </p:spPr>
        <p:txBody>
          <a:bodyPr wrap="square">
            <a:spAutoFit/>
          </a:bodyPr>
          <a:lstStyle/>
          <a:p>
            <a:pPr algn="ctr">
              <a:lnSpc>
                <a:spcPct val="150000"/>
              </a:lnSpc>
            </a:pPr>
            <a:r>
              <a:rPr lang="en-US" sz="3200" cap="all" dirty="0">
                <a:latin typeface="Times New Roman" pitchFamily="18" charset="0"/>
                <a:cs typeface="Times New Roman" pitchFamily="18" charset="0"/>
              </a:rPr>
              <a:t>Methodology</a:t>
            </a:r>
            <a:endParaRPr lang="en-US" sz="2800" cap="all" dirty="0">
              <a:latin typeface="Times New Roman" pitchFamily="18" charset="0"/>
              <a:cs typeface="Times New Roman" pitchFamily="18" charset="0"/>
            </a:endParaRPr>
          </a:p>
        </p:txBody>
      </p:sp>
      <mc:AlternateContent xmlns:mc="http://schemas.openxmlformats.org/markup-compatibility/2006">
        <mc:Choice xmlns:a14="http://schemas.microsoft.com/office/drawing/2010/main" Requires="a14">
          <p:sp>
            <p:nvSpPr>
              <p:cNvPr id="29" name="Rectangle 22">
                <a:extLst>
                  <a:ext uri="{FF2B5EF4-FFF2-40B4-BE49-F238E27FC236}">
                    <a16:creationId xmlns:a16="http://schemas.microsoft.com/office/drawing/2014/main" id="{9ED597F7-910E-13FD-5F34-1C5C8FAAED20}"/>
                  </a:ext>
                </a:extLst>
              </p:cNvPr>
              <p:cNvSpPr>
                <a:spLocks noChangeArrowheads="1"/>
              </p:cNvSpPr>
              <p:nvPr/>
            </p:nvSpPr>
            <p:spPr bwMode="auto">
              <a:xfrm>
                <a:off x="0" y="631378"/>
                <a:ext cx="9144001" cy="510986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defRPr/>
                </a:pP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Phase 3: Automated Anomaly Detection</a:t>
                </a:r>
              </a:p>
              <a:p>
                <a:pPr lvl="0" algn="just" eaLnBrk="0" fontAlgn="base" hangingPunct="0">
                  <a:lnSpc>
                    <a:spcPct val="150000"/>
                  </a:lnSpc>
                  <a:spcBef>
                    <a:spcPct val="0"/>
                  </a:spcBef>
                  <a:spcAft>
                    <a:spcPct val="0"/>
                  </a:spcAft>
                  <a:defRPr/>
                </a:pPr>
                <a:r>
                  <a:rPr lang="en-IN" sz="2200" b="1" i="1" dirty="0">
                    <a:latin typeface="Times New Roman" panose="02020603050405020304" pitchFamily="18" charset="0"/>
                    <a:cs typeface="Times New Roman" panose="02020603050405020304" pitchFamily="18" charset="0"/>
                  </a:rPr>
                  <a:t>Method:</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Unsupervised Machine Learning (</a:t>
                </a:r>
                <a:r>
                  <a:rPr lang="en-IN" sz="2200" dirty="0" err="1">
                    <a:latin typeface="Times New Roman" panose="02020603050405020304" pitchFamily="18" charset="0"/>
                    <a:cs typeface="Times New Roman" panose="02020603050405020304" pitchFamily="18" charset="0"/>
                  </a:rPr>
                  <a:t>IsolationForest</a:t>
                </a:r>
                <a:r>
                  <a:rPr lang="en-IN" sz="2200" dirty="0">
                    <a:latin typeface="Times New Roman" panose="02020603050405020304" pitchFamily="18" charset="0"/>
                    <a:cs typeface="Times New Roman" panose="02020603050405020304" pitchFamily="18" charset="0"/>
                  </a:rPr>
                  <a:t> via Scikit-Learn).</a:t>
                </a:r>
              </a:p>
              <a:p>
                <a:pPr lvl="0" algn="just" eaLnBrk="0" fontAlgn="base" hangingPunct="0">
                  <a:lnSpc>
                    <a:spcPct val="150000"/>
                  </a:lnSpc>
                  <a:spcBef>
                    <a:spcPct val="0"/>
                  </a:spcBef>
                  <a:spcAft>
                    <a:spcPct val="0"/>
                  </a:spcAft>
                  <a:defRPr/>
                </a:pP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Crucial </a:t>
                </a:r>
                <a:r>
                  <a:rPr lang="en-IN" sz="2200" b="1" i="1" dirty="0">
                    <a:latin typeface="Times New Roman" panose="02020603050405020304" pitchFamily="18" charset="0"/>
                    <a:cs typeface="Times New Roman" panose="02020603050405020304" pitchFamily="18" charset="0"/>
                  </a:rPr>
                  <a:t>Execution:</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Scans numeric columns of large databases (e.g., Diabetes records) with a contamination factor of 0.01 to isolate the top 1% of mathematical outliers.</a:t>
                </a:r>
              </a:p>
              <a:p>
                <a:pPr lvl="0" algn="just" eaLnBrk="0" fontAlgn="base" hangingPunct="0">
                  <a:lnSpc>
                    <a:spcPct val="150000"/>
                  </a:lnSpc>
                  <a:spcBef>
                    <a:spcPct val="0"/>
                  </a:spcBef>
                  <a:spcAft>
                    <a:spcPct val="0"/>
                  </a:spcAft>
                  <a:defRPr/>
                </a:pPr>
                <a:r>
                  <a:rPr lang="en-IN" sz="2200" b="1" dirty="0">
                    <a:latin typeface="Times New Roman" panose="02020603050405020304" pitchFamily="18" charset="0"/>
                    <a:cs typeface="Times New Roman" panose="02020603050405020304" pitchFamily="18" charset="0"/>
                  </a:rPr>
                  <a:t>Phase 4: Medical RAG &amp; Computer Vision</a:t>
                </a:r>
              </a:p>
              <a:p>
                <a:pPr lvl="0" algn="just" eaLnBrk="0" fontAlgn="base" hangingPunct="0">
                  <a:lnSpc>
                    <a:spcPct val="150000"/>
                  </a:lnSpc>
                  <a:spcBef>
                    <a:spcPct val="0"/>
                  </a:spcBef>
                  <a:spcAft>
                    <a:spcPct val="0"/>
                  </a:spcAft>
                  <a:defRPr/>
                </a:pPr>
                <a:r>
                  <a:rPr lang="en-IN" sz="2200" b="1" i="1" dirty="0">
                    <a:latin typeface="Times New Roman" panose="02020603050405020304" pitchFamily="18" charset="0"/>
                    <a:cs typeface="Times New Roman" panose="02020603050405020304" pitchFamily="18" charset="0"/>
                  </a:rPr>
                  <a:t>RAG Pipeline:</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PyPDF2 text extraction </a:t>
                </a:r>
                <a14:m>
                  <m:oMath xmlns:m="http://schemas.openxmlformats.org/officeDocument/2006/math">
                    <m:r>
                      <a:rPr lang="en-IN" sz="2200" b="0">
                        <a:latin typeface="Cambria Math" panose="02040503050406030204" pitchFamily="18" charset="0"/>
                      </a:rPr>
                      <m:t>→</m:t>
                    </m:r>
                  </m:oMath>
                </a14:m>
                <a:r>
                  <a:rPr lang="en-IN" sz="2200" dirty="0">
                    <a:latin typeface="Times New Roman" panose="02020603050405020304" pitchFamily="18" charset="0"/>
                    <a:cs typeface="Times New Roman" panose="02020603050405020304" pitchFamily="18" charset="0"/>
                  </a:rPr>
                  <a:t>TF-IDF Vectorization </a:t>
                </a:r>
                <a14:m>
                  <m:oMath xmlns:m="http://schemas.openxmlformats.org/officeDocument/2006/math">
                    <m:r>
                      <a:rPr lang="en-IN" sz="2200" b="0">
                        <a:latin typeface="Cambria Math" panose="02040503050406030204" pitchFamily="18" charset="0"/>
                      </a:rPr>
                      <m:t>→</m:t>
                    </m:r>
                  </m:oMath>
                </a14:m>
                <a:r>
                  <a:rPr lang="en-IN" sz="2200" dirty="0">
                    <a:latin typeface="Times New Roman" panose="02020603050405020304" pitchFamily="18" charset="0"/>
                    <a:cs typeface="Times New Roman" panose="02020603050405020304" pitchFamily="18" charset="0"/>
                  </a:rPr>
                  <a:t>Cosine Similarity context matching </a:t>
                </a:r>
                <a14:m>
                  <m:oMath xmlns:m="http://schemas.openxmlformats.org/officeDocument/2006/math">
                    <m:r>
                      <a:rPr lang="en-IN" sz="2200" b="0">
                        <a:latin typeface="Cambria Math" panose="02040503050406030204" pitchFamily="18" charset="0"/>
                      </a:rPr>
                      <m:t>→</m:t>
                    </m:r>
                  </m:oMath>
                </a14:m>
                <a:r>
                  <a:rPr lang="en-IN" sz="2200" dirty="0">
                    <a:latin typeface="Times New Roman" panose="02020603050405020304" pitchFamily="18" charset="0"/>
                    <a:cs typeface="Times New Roman" panose="02020603050405020304" pitchFamily="18" charset="0"/>
                  </a:rPr>
                  <a:t>LLM answer generation.</a:t>
                </a:r>
              </a:p>
              <a:p>
                <a:pPr lvl="0" algn="just" eaLnBrk="0" fontAlgn="base" hangingPunct="0">
                  <a:lnSpc>
                    <a:spcPct val="150000"/>
                  </a:lnSpc>
                  <a:spcBef>
                    <a:spcPct val="0"/>
                  </a:spcBef>
                  <a:spcAft>
                    <a:spcPct val="0"/>
                  </a:spcAft>
                  <a:defRPr/>
                </a:pPr>
                <a:r>
                  <a:rPr lang="en-IN" sz="2200" b="1" i="1" dirty="0">
                    <a:latin typeface="Times New Roman" panose="02020603050405020304" pitchFamily="18" charset="0"/>
                    <a:cs typeface="Times New Roman" panose="02020603050405020304" pitchFamily="18" charset="0"/>
                  </a:rPr>
                  <a:t> Vision Pipeline:</a:t>
                </a:r>
                <a:r>
                  <a:rPr lang="en-IN" sz="2200" b="1"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HuggingFace</a:t>
                </a:r>
                <a:r>
                  <a:rPr lang="en-IN" sz="2200" dirty="0">
                    <a:latin typeface="Times New Roman" panose="02020603050405020304" pitchFamily="18" charset="0"/>
                    <a:cs typeface="Times New Roman" panose="02020603050405020304" pitchFamily="18" charset="0"/>
                  </a:rPr>
                  <a:t> Vision Transformer (</a:t>
                </a:r>
                <a:r>
                  <a:rPr lang="en-IN" sz="2200" dirty="0" err="1">
                    <a:latin typeface="Times New Roman" panose="02020603050405020304" pitchFamily="18" charset="0"/>
                    <a:cs typeface="Times New Roman" panose="02020603050405020304" pitchFamily="18" charset="0"/>
                  </a:rPr>
                  <a:t>ViT</a:t>
                </a:r>
                <a:r>
                  <a:rPr lang="en-IN" sz="2200" dirty="0">
                    <a:latin typeface="Times New Roman" panose="02020603050405020304" pitchFamily="18" charset="0"/>
                    <a:cs typeface="Times New Roman" panose="02020603050405020304" pitchFamily="18" charset="0"/>
                  </a:rPr>
                  <a:t>) processes localized pixel data of uploaded X-Rays to classify "Normal" vs. "Pneumonia".</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p:sp>
            <p:nvSpPr>
              <p:cNvPr id="29" name="Rectangle 22">
                <a:extLst>
                  <a:ext uri="{FF2B5EF4-FFF2-40B4-BE49-F238E27FC236}">
                    <a16:creationId xmlns:a16="http://schemas.microsoft.com/office/drawing/2014/main" id="{9ED597F7-910E-13FD-5F34-1C5C8FAAED20}"/>
                  </a:ext>
                </a:extLst>
              </p:cNvPr>
              <p:cNvSpPr>
                <a:spLocks noRot="1" noChangeAspect="1" noMove="1" noResize="1" noEditPoints="1" noAdjustHandles="1" noChangeArrowheads="1" noChangeShapeType="1" noTextEdit="1"/>
              </p:cNvSpPr>
              <p:nvPr/>
            </p:nvSpPr>
            <p:spPr bwMode="auto">
              <a:xfrm>
                <a:off x="0" y="631378"/>
                <a:ext cx="9144001" cy="5109860"/>
              </a:xfrm>
              <a:prstGeom prst="rect">
                <a:avLst/>
              </a:prstGeom>
              <a:blipFill>
                <a:blip r:embed="rId4"/>
                <a:stretch>
                  <a:fillRect l="-867" r="-867" b="-190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30" name="Rectangle 23">
            <a:extLst>
              <a:ext uri="{FF2B5EF4-FFF2-40B4-BE49-F238E27FC236}">
                <a16:creationId xmlns:a16="http://schemas.microsoft.com/office/drawing/2014/main" id="{095C50C6-7616-AF89-B442-D30744FB6EF2}"/>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1" name="Rectangle 24">
            <a:extLst>
              <a:ext uri="{FF2B5EF4-FFF2-40B4-BE49-F238E27FC236}">
                <a16:creationId xmlns:a16="http://schemas.microsoft.com/office/drawing/2014/main" id="{E9913695-3F5B-68C1-B99B-E41CAA343C12}"/>
              </a:ext>
            </a:extLst>
          </p:cNvPr>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9050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6D2B7-9CD2-D2EC-E0F2-FE1935B7B7C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E5D9DEE-F676-CBB6-B85E-60749D8B50D1}"/>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14</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C44EE052-5206-2563-01D8-9AF0CEF97E4A}"/>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03D968BB-5830-7F93-3BCD-CECB256AC6A5}"/>
              </a:ext>
            </a:extLst>
          </p:cNvPr>
          <p:cNvPicPr>
            <a:picLocks noChangeAspect="1"/>
          </p:cNvPicPr>
          <p:nvPr/>
        </p:nvPicPr>
        <p:blipFill>
          <a:blip r:embed="rId3"/>
          <a:stretch>
            <a:fillRect/>
          </a:stretch>
        </p:blipFill>
        <p:spPr>
          <a:xfrm>
            <a:off x="-1" y="6248400"/>
            <a:ext cx="9144001" cy="613831"/>
          </a:xfrm>
          <a:prstGeom prst="rect">
            <a:avLst/>
          </a:prstGeom>
        </p:spPr>
      </p:pic>
      <p:sp>
        <p:nvSpPr>
          <p:cNvPr id="2" name="TextBox 1">
            <a:extLst>
              <a:ext uri="{FF2B5EF4-FFF2-40B4-BE49-F238E27FC236}">
                <a16:creationId xmlns:a16="http://schemas.microsoft.com/office/drawing/2014/main" id="{B2EB1EC9-0837-91F1-A2D2-54697100FC58}"/>
              </a:ext>
            </a:extLst>
          </p:cNvPr>
          <p:cNvSpPr txBox="1"/>
          <p:nvPr/>
        </p:nvSpPr>
        <p:spPr>
          <a:xfrm>
            <a:off x="0" y="15875"/>
            <a:ext cx="9144000" cy="742511"/>
          </a:xfrm>
          <a:prstGeom prst="rect">
            <a:avLst/>
          </a:prstGeom>
          <a:noFill/>
        </p:spPr>
        <p:txBody>
          <a:bodyPr wrap="square">
            <a:spAutoFit/>
          </a:bodyPr>
          <a:lstStyle/>
          <a:p>
            <a:pPr algn="ctr">
              <a:lnSpc>
                <a:spcPct val="150000"/>
              </a:lnSpc>
            </a:pPr>
            <a:r>
              <a:rPr lang="en-US" sz="3200" cap="all" dirty="0">
                <a:latin typeface="Times New Roman" pitchFamily="18" charset="0"/>
                <a:cs typeface="Times New Roman" pitchFamily="18" charset="0"/>
              </a:rPr>
              <a:t>Methodology</a:t>
            </a:r>
            <a:endParaRPr lang="en-US" sz="2800" cap="all" dirty="0">
              <a:latin typeface="Times New Roman" pitchFamily="18" charset="0"/>
              <a:cs typeface="Times New Roman" pitchFamily="18" charset="0"/>
            </a:endParaRPr>
          </a:p>
        </p:txBody>
      </p:sp>
      <p:sp>
        <p:nvSpPr>
          <p:cNvPr id="29" name="Rectangle 22">
            <a:extLst>
              <a:ext uri="{FF2B5EF4-FFF2-40B4-BE49-F238E27FC236}">
                <a16:creationId xmlns:a16="http://schemas.microsoft.com/office/drawing/2014/main" id="{4B7F554C-D0F1-C0BA-5353-44F7A7AD2CE6}"/>
              </a:ext>
            </a:extLst>
          </p:cNvPr>
          <p:cNvSpPr>
            <a:spLocks noChangeArrowheads="1"/>
          </p:cNvSpPr>
          <p:nvPr/>
        </p:nvSpPr>
        <p:spPr bwMode="auto">
          <a:xfrm>
            <a:off x="381000" y="3000316"/>
            <a:ext cx="8534400" cy="971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5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0" name="Rectangle 23">
            <a:extLst>
              <a:ext uri="{FF2B5EF4-FFF2-40B4-BE49-F238E27FC236}">
                <a16:creationId xmlns:a16="http://schemas.microsoft.com/office/drawing/2014/main" id="{721CAE08-B2AE-4A23-E6BB-8F0D0D2DDACE}"/>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1" name="Rectangle 24">
            <a:extLst>
              <a:ext uri="{FF2B5EF4-FFF2-40B4-BE49-F238E27FC236}">
                <a16:creationId xmlns:a16="http://schemas.microsoft.com/office/drawing/2014/main" id="{CAE6E232-9357-A110-880C-7D68AFA84C2C}"/>
              </a:ext>
            </a:extLst>
          </p:cNvPr>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B28F5325-BBD2-A7B0-B916-E9AD89920E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799" y="1207498"/>
            <a:ext cx="9042400" cy="4932218"/>
          </a:xfrm>
          <a:prstGeom prst="rect">
            <a:avLst/>
          </a:prstGeom>
        </p:spPr>
      </p:pic>
    </p:spTree>
    <p:extLst>
      <p:ext uri="{BB962C8B-B14F-4D97-AF65-F5344CB8AC3E}">
        <p14:creationId xmlns:p14="http://schemas.microsoft.com/office/powerpoint/2010/main" val="1967407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9D81C-D209-2553-5D70-E6EAD70D51D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4EF83C7-AA74-0144-3281-652F5011D2C0}"/>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15</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90D5CCF5-40E4-4BBD-61C3-B10356CC89D4}"/>
              </a:ext>
            </a:extLst>
          </p:cNvPr>
          <p:cNvPicPr>
            <a:picLocks noChangeAspect="1"/>
          </p:cNvPicPr>
          <p:nvPr/>
        </p:nvPicPr>
        <p:blipFill>
          <a:blip r:embed="rId3"/>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56693039-70A4-34DB-1287-96057FDD2EDC}"/>
              </a:ext>
            </a:extLst>
          </p:cNvPr>
          <p:cNvPicPr>
            <a:picLocks noChangeAspect="1"/>
          </p:cNvPicPr>
          <p:nvPr/>
        </p:nvPicPr>
        <p:blipFill>
          <a:blip r:embed="rId4"/>
          <a:stretch>
            <a:fillRect/>
          </a:stretch>
        </p:blipFill>
        <p:spPr>
          <a:xfrm>
            <a:off x="-1" y="6248400"/>
            <a:ext cx="9144001" cy="613831"/>
          </a:xfrm>
          <a:prstGeom prst="rect">
            <a:avLst/>
          </a:prstGeom>
        </p:spPr>
      </p:pic>
      <p:sp>
        <p:nvSpPr>
          <p:cNvPr id="2" name="Title 1">
            <a:extLst>
              <a:ext uri="{FF2B5EF4-FFF2-40B4-BE49-F238E27FC236}">
                <a16:creationId xmlns:a16="http://schemas.microsoft.com/office/drawing/2014/main" id="{1C95C1AF-4CBE-0F17-6022-72D1BB81779D}"/>
              </a:ext>
            </a:extLst>
          </p:cNvPr>
          <p:cNvSpPr txBox="1">
            <a:spLocks/>
          </p:cNvSpPr>
          <p:nvPr/>
        </p:nvSpPr>
        <p:spPr>
          <a:xfrm>
            <a:off x="838200" y="162424"/>
            <a:ext cx="7848600" cy="8683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a:latin typeface="Times New Roman" panose="02020603050405020304" pitchFamily="18" charset="0"/>
                <a:cs typeface="Times New Roman" panose="02020603050405020304" pitchFamily="18" charset="0"/>
              </a:rPr>
              <a:t>TARGET OF NEXT THREE MONTHS</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84B3E3B-FD8E-DC34-4766-6ECDCD50DEE9}"/>
              </a:ext>
            </a:extLst>
          </p:cNvPr>
          <p:cNvGraphicFramePr>
            <a:graphicFrameLocks noGrp="1"/>
          </p:cNvGraphicFramePr>
          <p:nvPr>
            <p:extLst>
              <p:ext uri="{D42A27DB-BD31-4B8C-83A1-F6EECF244321}">
                <p14:modId xmlns:p14="http://schemas.microsoft.com/office/powerpoint/2010/main" val="795464638"/>
              </p:ext>
            </p:extLst>
          </p:nvPr>
        </p:nvGraphicFramePr>
        <p:xfrm>
          <a:off x="14177" y="1546207"/>
          <a:ext cx="9144000" cy="3824577"/>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295267918"/>
                    </a:ext>
                  </a:extLst>
                </a:gridCol>
                <a:gridCol w="2743200">
                  <a:extLst>
                    <a:ext uri="{9D8B030D-6E8A-4147-A177-3AD203B41FA5}">
                      <a16:colId xmlns:a16="http://schemas.microsoft.com/office/drawing/2014/main" val="1406603141"/>
                    </a:ext>
                  </a:extLst>
                </a:gridCol>
                <a:gridCol w="3276600">
                  <a:extLst>
                    <a:ext uri="{9D8B030D-6E8A-4147-A177-3AD203B41FA5}">
                      <a16:colId xmlns:a16="http://schemas.microsoft.com/office/drawing/2014/main" val="679881859"/>
                    </a:ext>
                  </a:extLst>
                </a:gridCol>
              </a:tblGrid>
              <a:tr h="715617">
                <a:tc>
                  <a:txBody>
                    <a:bodyPr/>
                    <a:lstStyle/>
                    <a:p>
                      <a:pPr algn="just"/>
                      <a:r>
                        <a:rPr lang="en-US" sz="1600" dirty="0">
                          <a:solidFill>
                            <a:srgbClr val="00B050"/>
                          </a:solidFill>
                          <a:latin typeface="Times New Roman" panose="02020603050405020304" pitchFamily="18" charset="0"/>
                          <a:cs typeface="Times New Roman" panose="02020603050405020304" pitchFamily="18" charset="0"/>
                        </a:rPr>
                        <a:t>June(COMPLETED)</a:t>
                      </a:r>
                      <a:endParaRPr lang="en-IN" sz="1600"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a:solidFill>
                            <a:srgbClr val="FF0000"/>
                          </a:solidFill>
                          <a:latin typeface="Times New Roman" panose="02020603050405020304" pitchFamily="18" charset="0"/>
                          <a:cs typeface="Times New Roman" panose="02020603050405020304" pitchFamily="18" charset="0"/>
                        </a:rPr>
                        <a:t>July(INCOMPLETED)</a:t>
                      </a:r>
                      <a:endParaRPr lang="en-IN" sz="16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just"/>
                      <a:r>
                        <a:rPr lang="en-IN" sz="1600" b="1" dirty="0">
                          <a:solidFill>
                            <a:srgbClr val="FF0000"/>
                          </a:solidFill>
                          <a:latin typeface="Times New Roman" panose="02020603050405020304" pitchFamily="18" charset="0"/>
                          <a:cs typeface="Times New Roman" panose="02020603050405020304" pitchFamily="18" charset="0"/>
                        </a:rPr>
                        <a:t>August (INCOMPLETED)</a:t>
                      </a:r>
                      <a:endParaRPr lang="en-IN" sz="16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77844893"/>
                  </a:ext>
                </a:extLst>
              </a:tr>
              <a:tr h="1227483">
                <a:tc>
                  <a:txBody>
                    <a:bodyPr/>
                    <a:lstStyle/>
                    <a:p>
                      <a:pPr algn="just"/>
                      <a:r>
                        <a:rPr lang="en-US" sz="1600" dirty="0">
                          <a:solidFill>
                            <a:srgbClr val="00B050"/>
                          </a:solidFill>
                          <a:latin typeface="Times New Roman" panose="02020603050405020304" pitchFamily="18" charset="0"/>
                          <a:cs typeface="Times New Roman" panose="02020603050405020304" pitchFamily="18" charset="0"/>
                        </a:rPr>
                        <a:t>Complete GitHub deployment, finalize the README documentation, and record standard operation video demonstrations.</a:t>
                      </a:r>
                      <a:endParaRPr lang="en-IN" sz="1600"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a:solidFill>
                            <a:srgbClr val="FF0000"/>
                          </a:solidFill>
                          <a:latin typeface="Times New Roman" panose="02020603050405020304" pitchFamily="18" charset="0"/>
                          <a:cs typeface="Times New Roman" panose="02020603050405020304" pitchFamily="18" charset="0"/>
                        </a:rPr>
                        <a:t>Conduct clinical validation testing by running novel dataset inputs through the Vision and Predictive ML modules to calculate accuracy metrics.</a:t>
                      </a:r>
                      <a:endParaRPr lang="en-IN" sz="16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a:solidFill>
                            <a:srgbClr val="FF0000"/>
                          </a:solidFill>
                          <a:latin typeface="Times New Roman" panose="02020603050405020304" pitchFamily="18" charset="0"/>
                          <a:cs typeface="Times New Roman" panose="02020603050405020304" pitchFamily="18" charset="0"/>
                        </a:rPr>
                        <a:t>Draft and finalize the primary project thesis report; prepare for the final capstone presentation.</a:t>
                      </a:r>
                      <a:endParaRPr lang="en-IN" sz="16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90905254"/>
                  </a:ext>
                </a:extLst>
              </a:tr>
              <a:tr h="1227483">
                <a:tc>
                  <a:txBody>
                    <a:bodyPr/>
                    <a:lstStyle/>
                    <a:p>
                      <a:pPr algn="just"/>
                      <a:r>
                        <a:rPr lang="en-US" sz="1600" dirty="0">
                          <a:solidFill>
                            <a:srgbClr val="00B050"/>
                          </a:solidFill>
                          <a:latin typeface="Times New Roman" panose="02020603050405020304" pitchFamily="18" charset="0"/>
                          <a:cs typeface="Times New Roman" panose="02020603050405020304" pitchFamily="18" charset="0"/>
                        </a:rPr>
                        <a:t>(Optimization): Enhance model optimization by testing lower-bit quantization schemes to further reduce local RAM load.</a:t>
                      </a:r>
                      <a:endParaRPr lang="en-IN" sz="1600"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a:solidFill>
                            <a:srgbClr val="FF0000"/>
                          </a:solidFill>
                          <a:latin typeface="Times New Roman" panose="02020603050405020304" pitchFamily="18" charset="0"/>
                          <a:cs typeface="Times New Roman" panose="02020603050405020304" pitchFamily="18" charset="0"/>
                        </a:rPr>
                        <a:t>(Validation Testing): Load large benchmark medical datasets to log performance metrics (precision, recall, inference latency) for the diagnostic systems.</a:t>
                      </a:r>
                      <a:endParaRPr lang="en-IN" sz="16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a:solidFill>
                            <a:srgbClr val="FF0000"/>
                          </a:solidFill>
                          <a:latin typeface="Times New Roman" panose="02020603050405020304" pitchFamily="18" charset="0"/>
                          <a:cs typeface="Times New Roman" panose="02020603050405020304" pitchFamily="18" charset="0"/>
                        </a:rPr>
                        <a:t>(Documentation): Complete the final capstone project report, generate comprehensive deployment guides on GitHub, and prepare for final presentation panels.</a:t>
                      </a:r>
                      <a:endParaRPr lang="en-IN" sz="16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5538790"/>
                  </a:ext>
                </a:extLst>
              </a:tr>
            </a:tbl>
          </a:graphicData>
        </a:graphic>
      </p:graphicFrame>
    </p:spTree>
    <p:extLst>
      <p:ext uri="{BB962C8B-B14F-4D97-AF65-F5344CB8AC3E}">
        <p14:creationId xmlns:p14="http://schemas.microsoft.com/office/powerpoint/2010/main" val="605770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634E-20C8-B270-147D-5050CA47E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90053-6BB5-572D-05AD-013F01737143}"/>
              </a:ext>
            </a:extLst>
          </p:cNvPr>
          <p:cNvSpPr>
            <a:spLocks noGrp="1"/>
          </p:cNvSpPr>
          <p:nvPr>
            <p:ph type="title"/>
          </p:nvPr>
        </p:nvSpPr>
        <p:spPr>
          <a:xfrm>
            <a:off x="492760" y="30480"/>
            <a:ext cx="8229600" cy="639762"/>
          </a:xfrm>
        </p:spPr>
        <p:txBody>
          <a:bodyPr>
            <a:normAutofit/>
          </a:bodyPr>
          <a:lstStyle/>
          <a:p>
            <a:r>
              <a:rPr lang="en-US" sz="3200" b="1" dirty="0">
                <a:latin typeface="Times New Roman" panose="02020603050405020304" pitchFamily="18" charset="0"/>
                <a:cs typeface="Times New Roman" panose="02020603050405020304" pitchFamily="18" charset="0"/>
              </a:rPr>
              <a:t>References</a:t>
            </a:r>
            <a:endParaRPr lang="en-IN" sz="3200" b="1" dirty="0"/>
          </a:p>
        </p:txBody>
      </p:sp>
      <p:sp>
        <p:nvSpPr>
          <p:cNvPr id="5" name="Slide Number Placeholder 4">
            <a:extLst>
              <a:ext uri="{FF2B5EF4-FFF2-40B4-BE49-F238E27FC236}">
                <a16:creationId xmlns:a16="http://schemas.microsoft.com/office/drawing/2014/main" id="{7ACB460A-3379-D550-8D54-0B4114781703}"/>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16</a:t>
            </a:fld>
            <a:endParaRPr lang="en-US">
              <a:solidFill>
                <a:prstClr val="black">
                  <a:tint val="75000"/>
                </a:prstClr>
              </a:solidFill>
            </a:endParaRPr>
          </a:p>
        </p:txBody>
      </p:sp>
      <p:pic>
        <p:nvPicPr>
          <p:cNvPr id="6" name="Picture 5" descr="A picture containing text, clipart&#10;&#10;Description automatically generated">
            <a:extLst>
              <a:ext uri="{FF2B5EF4-FFF2-40B4-BE49-F238E27FC236}">
                <a16:creationId xmlns:a16="http://schemas.microsoft.com/office/drawing/2014/main" id="{31D74E58-1021-A03E-8AC4-68BCCC735BD0}"/>
              </a:ext>
            </a:extLst>
          </p:cNvPr>
          <p:cNvPicPr>
            <a:picLocks noChangeAspect="1"/>
          </p:cNvPicPr>
          <p:nvPr/>
        </p:nvPicPr>
        <p:blipFill>
          <a:blip r:embed="rId2"/>
          <a:stretch>
            <a:fillRect/>
          </a:stretch>
        </p:blipFill>
        <p:spPr>
          <a:xfrm>
            <a:off x="0" y="-14288"/>
            <a:ext cx="1042988" cy="1221786"/>
          </a:xfrm>
          <a:prstGeom prst="rect">
            <a:avLst/>
          </a:prstGeom>
        </p:spPr>
      </p:pic>
      <p:pic>
        <p:nvPicPr>
          <p:cNvPr id="8" name="Picture 7">
            <a:extLst>
              <a:ext uri="{FF2B5EF4-FFF2-40B4-BE49-F238E27FC236}">
                <a16:creationId xmlns:a16="http://schemas.microsoft.com/office/drawing/2014/main" id="{7058B950-A19D-0B4D-1B8B-01CBFDA1A421}"/>
              </a:ext>
            </a:extLst>
          </p:cNvPr>
          <p:cNvPicPr>
            <a:picLocks noChangeAspect="1"/>
          </p:cNvPicPr>
          <p:nvPr/>
        </p:nvPicPr>
        <p:blipFill>
          <a:blip r:embed="rId3"/>
          <a:stretch>
            <a:fillRect/>
          </a:stretch>
        </p:blipFill>
        <p:spPr>
          <a:xfrm>
            <a:off x="-1" y="6248400"/>
            <a:ext cx="9144001" cy="613831"/>
          </a:xfrm>
          <a:prstGeom prst="rect">
            <a:avLst/>
          </a:prstGeom>
        </p:spPr>
      </p:pic>
      <p:sp>
        <p:nvSpPr>
          <p:cNvPr id="4" name="TextBox 3">
            <a:extLst>
              <a:ext uri="{FF2B5EF4-FFF2-40B4-BE49-F238E27FC236}">
                <a16:creationId xmlns:a16="http://schemas.microsoft.com/office/drawing/2014/main" id="{8303C1B5-CBCA-ECDA-81AD-F0423DA967F8}"/>
              </a:ext>
            </a:extLst>
          </p:cNvPr>
          <p:cNvSpPr txBox="1"/>
          <p:nvPr/>
        </p:nvSpPr>
        <p:spPr>
          <a:xfrm>
            <a:off x="-1" y="658486"/>
            <a:ext cx="9144001" cy="2862322"/>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Qwen Team. (2025). Qwen2.5-Coder: 1.5B Local Instruction-Tuned Model. </a:t>
            </a:r>
            <a:r>
              <a:rPr lang="en-IN" dirty="0" err="1">
                <a:latin typeface="Times New Roman" panose="02020603050405020304" pitchFamily="18" charset="0"/>
                <a:cs typeface="Times New Roman" panose="02020603050405020304" pitchFamily="18" charset="0"/>
              </a:rPr>
              <a:t>HuggingFace</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Lundberg, S. M., &amp; Lee, S. I. (2017). A Unified Approach to Interpreting Model Predictions (SHAP). Advances in Neural Information Processing Systems.</a:t>
            </a:r>
          </a:p>
          <a:p>
            <a:pPr algn="just"/>
            <a:r>
              <a:rPr lang="en-IN"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UCI Machine Learning Repository. (1988). Heart Disease Data Set. Cleveland Clinic Foundation.</a:t>
            </a:r>
          </a:p>
          <a:p>
            <a:pPr algn="just"/>
            <a:r>
              <a:rPr lang="en-IN"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Pedregosa, F., et al. (2011). Scikit-learn: Machine Learning in Python. Journal of Machine Learning Research.</a:t>
            </a:r>
          </a:p>
          <a:p>
            <a:pPr algn="just"/>
            <a:r>
              <a:rPr lang="en-IN" dirty="0">
                <a:latin typeface="Times New Roman" panose="02020603050405020304" pitchFamily="18" charset="0"/>
                <a:cs typeface="Times New Roman" panose="02020603050405020304" pitchFamily="18" charset="0"/>
              </a:rPr>
              <a:t>[5] </a:t>
            </a:r>
            <a:r>
              <a:rPr lang="en-US" dirty="0" err="1">
                <a:latin typeface="Times New Roman" panose="02020603050405020304" pitchFamily="18" charset="0"/>
                <a:cs typeface="Times New Roman" panose="02020603050405020304" pitchFamily="18" charset="0"/>
              </a:rPr>
              <a:t>Systran</a:t>
            </a:r>
            <a:r>
              <a:rPr lang="en-US" dirty="0">
                <a:latin typeface="Times New Roman" panose="02020603050405020304" pitchFamily="18" charset="0"/>
                <a:cs typeface="Times New Roman" panose="02020603050405020304" pitchFamily="18" charset="0"/>
              </a:rPr>
              <a:t>. (2023). Faster-Whisper: High-Performance Audio Transcription. GitHub Repository.</a:t>
            </a:r>
          </a:p>
          <a:p>
            <a:pPr algn="just"/>
            <a:r>
              <a:rPr lang="en-IN" dirty="0">
                <a:latin typeface="Times New Roman" panose="02020603050405020304" pitchFamily="18" charset="0"/>
                <a:cs typeface="Times New Roman" panose="02020603050405020304" pitchFamily="18" charset="0"/>
              </a:rPr>
              <a:t>[6] E. Tonti et al., "Artificial intelligence and advanced technology in glaucoma: A review," J. Pers. Med., vol. 14, no. 10, Art. no. 1062, Oct. 2024,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10.3390/jpm14101062.</a:t>
            </a:r>
          </a:p>
        </p:txBody>
      </p:sp>
    </p:spTree>
    <p:extLst>
      <p:ext uri="{BB962C8B-B14F-4D97-AF65-F5344CB8AC3E}">
        <p14:creationId xmlns:p14="http://schemas.microsoft.com/office/powerpoint/2010/main" val="2461677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0"/>
          </a:xfrm>
        </p:spPr>
        <p:txBody>
          <a:bodyPr>
            <a:normAutofit/>
          </a:bodyPr>
          <a:lstStyle/>
          <a:p>
            <a:r>
              <a:rPr lang="en-US" sz="7200">
                <a:solidFill>
                  <a:srgbClr val="00B0F0"/>
                </a:solidFill>
                <a:latin typeface="Times New Roman" pitchFamily="18" charset="0"/>
                <a:cs typeface="Times New Roman" pitchFamily="18" charset="0"/>
              </a:rPr>
              <a:t>😊  Thank You  😊</a:t>
            </a:r>
            <a:endParaRPr lang="en-US" sz="7200" dirty="0">
              <a:solidFill>
                <a:srgbClr val="00B0F0"/>
              </a:solidFill>
              <a:latin typeface="Times New Roman" pitchFamily="18" charset="0"/>
              <a:cs typeface="Times New Roman" pitchFamily="18" charset="0"/>
            </a:endParaRPr>
          </a:p>
        </p:txBody>
      </p:sp>
      <p:sp>
        <p:nvSpPr>
          <p:cNvPr id="7" name="TextBox 6"/>
          <p:cNvSpPr txBox="1"/>
          <p:nvPr/>
        </p:nvSpPr>
        <p:spPr>
          <a:xfrm>
            <a:off x="2971800" y="5725923"/>
            <a:ext cx="3581400" cy="1132077"/>
          </a:xfrm>
          <a:prstGeom prst="rect">
            <a:avLst/>
          </a:prstGeom>
          <a:noFill/>
        </p:spPr>
        <p:txBody>
          <a:bodyPr wrap="square" rtlCol="0">
            <a:spAutoFit/>
          </a:bodyPr>
          <a:lstStyle/>
          <a:p>
            <a:endParaRPr lang="en-US" dirty="0"/>
          </a:p>
        </p:txBody>
      </p:sp>
      <p:pic>
        <p:nvPicPr>
          <p:cNvPr id="4" name="Picture 3" descr="A picture containing text, clipart&#10;&#10;Description automatically generated">
            <a:extLst>
              <a:ext uri="{FF2B5EF4-FFF2-40B4-BE49-F238E27FC236}">
                <a16:creationId xmlns:a16="http://schemas.microsoft.com/office/drawing/2014/main" id="{816B7A76-8F3B-1B63-BA76-DE3146DE687C}"/>
              </a:ext>
            </a:extLst>
          </p:cNvPr>
          <p:cNvPicPr>
            <a:picLocks noChangeAspect="1"/>
          </p:cNvPicPr>
          <p:nvPr/>
        </p:nvPicPr>
        <p:blipFill>
          <a:blip r:embed="rId2"/>
          <a:stretch>
            <a:fillRect/>
          </a:stretch>
        </p:blipFill>
        <p:spPr>
          <a:xfrm>
            <a:off x="0" y="-14288"/>
            <a:ext cx="1042988" cy="1221786"/>
          </a:xfrm>
          <a:prstGeom prst="rect">
            <a:avLst/>
          </a:prstGeom>
        </p:spPr>
      </p:pic>
      <p:pic>
        <p:nvPicPr>
          <p:cNvPr id="5" name="Picture 4">
            <a:extLst>
              <a:ext uri="{FF2B5EF4-FFF2-40B4-BE49-F238E27FC236}">
                <a16:creationId xmlns:a16="http://schemas.microsoft.com/office/drawing/2014/main" id="{CDDFE0BD-93A8-CBCE-D0C9-828D10C78552}"/>
              </a:ext>
            </a:extLst>
          </p:cNvPr>
          <p:cNvPicPr>
            <a:picLocks noChangeAspect="1"/>
          </p:cNvPicPr>
          <p:nvPr/>
        </p:nvPicPr>
        <p:blipFill>
          <a:blip r:embed="rId3"/>
          <a:stretch>
            <a:fillRect/>
          </a:stretch>
        </p:blipFill>
        <p:spPr>
          <a:xfrm>
            <a:off x="-1" y="6248400"/>
            <a:ext cx="9144001" cy="613831"/>
          </a:xfrm>
          <a:prstGeom prst="rect">
            <a:avLst/>
          </a:prstGeom>
        </p:spPr>
      </p:pic>
    </p:spTree>
    <p:extLst>
      <p:ext uri="{BB962C8B-B14F-4D97-AF65-F5344CB8AC3E}">
        <p14:creationId xmlns:p14="http://schemas.microsoft.com/office/powerpoint/2010/main" val="4252224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MIHER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MIHER Theme" id="{2642B543-181A-4136-8F00-96A602A35615}" vid="{71C7FC76-16B5-491B-BC3E-1EB3B3F612D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6143</TotalTime>
  <Words>1852</Words>
  <Application>Microsoft Office PowerPoint</Application>
  <PresentationFormat>On-screen Show (4:3)</PresentationFormat>
  <Paragraphs>188</Paragraphs>
  <Slides>17</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17</vt:i4>
      </vt:variant>
    </vt:vector>
  </HeadingPairs>
  <TitlesOfParts>
    <vt:vector size="25" baseType="lpstr">
      <vt:lpstr>Arial</vt:lpstr>
      <vt:lpstr>Calibri</vt:lpstr>
      <vt:lpstr>Cambria Math</vt:lpstr>
      <vt:lpstr>Times New Roman</vt:lpstr>
      <vt:lpstr>Wingdings</vt:lpstr>
      <vt:lpstr>Office Theme</vt:lpstr>
      <vt:lpstr>3_Office Theme</vt:lpstr>
      <vt:lpstr>DMIHER Theme</vt:lpstr>
      <vt:lpstr>PowerPoint Presentation</vt:lpstr>
      <vt:lpstr>PowerPoint Presentation</vt:lpstr>
      <vt:lpstr>CONTENTS </vt:lpstr>
      <vt:lpstr>INTRODUTION </vt:lpstr>
      <vt:lpstr>LITERATURE SURVEY</vt:lpstr>
      <vt:lpstr>LITERATURE SURVEY</vt:lpstr>
      <vt:lpstr>LITERATURE SURVEY</vt:lpstr>
      <vt:lpstr>Summary of Research Gap  </vt:lpstr>
      <vt:lpstr>RESEARCH QUESTION</vt:lpstr>
      <vt:lpstr>AIM</vt:lpstr>
      <vt:lpstr>OBJECTIVES</vt:lpstr>
      <vt:lpstr>PowerPoint Presentation</vt:lpstr>
      <vt:lpstr>PowerPoint Presentation</vt:lpstr>
      <vt:lpstr>PowerPoint Presentation</vt:lpstr>
      <vt:lpstr>PowerPoint Presentation</vt:lpstr>
      <vt:lpstr>References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PRESENTATION</dc:title>
  <dc:creator>Acer</dc:creator>
  <cp:lastModifiedBy>AKSHAT NIMJE</cp:lastModifiedBy>
  <cp:revision>457</cp:revision>
  <cp:lastPrinted>2023-02-04T19:54:57Z</cp:lastPrinted>
  <dcterms:created xsi:type="dcterms:W3CDTF">2006-08-16T00:00:00Z</dcterms:created>
  <dcterms:modified xsi:type="dcterms:W3CDTF">2026-07-12T09:25:35Z</dcterms:modified>
</cp:coreProperties>
</file>